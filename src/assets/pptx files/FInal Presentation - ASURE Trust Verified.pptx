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76" r:id="rId9"/>
    <p:sldId id="263" r:id="rId10"/>
    <p:sldId id="264" r:id="rId11"/>
    <p:sldId id="277" r:id="rId12"/>
    <p:sldId id="266" r:id="rId13"/>
    <p:sldId id="267" r:id="rId14"/>
    <p:sldId id="268" r:id="rId15"/>
    <p:sldId id="269" r:id="rId16"/>
    <p:sldId id="270" r:id="rId17"/>
    <p:sldId id="272" r:id="rId18"/>
    <p:sldId id="273" r:id="rId19"/>
    <p:sldId id="274" r:id="rId20"/>
    <p:sldId id="275" r:id="rId21"/>
  </p:sldIdLst>
  <p:sldSz cx="18288000" cy="10287000"/>
  <p:notesSz cx="6858000" cy="9144000"/>
  <p:embeddedFontLst>
    <p:embeddedFont>
      <p:font typeface="Calibri" panose="020F0502020204030204" pitchFamily="34" charset="0"/>
      <p:regular r:id="rId22"/>
      <p:bold r:id="rId23"/>
      <p:italic r:id="rId24"/>
      <p:boldItalic r:id="rId25"/>
    </p:embeddedFont>
    <p:embeddedFont>
      <p:font typeface="Poppins Bold" panose="020B0604020202020204" charset="0"/>
      <p:regular r:id="rId26"/>
    </p:embeddedFont>
    <p:embeddedFont>
      <p:font typeface="Proxima Nova" panose="020B0604020202020204" charset="0"/>
      <p:regular r:id="rId27"/>
    </p:embeddedFont>
    <p:embeddedFont>
      <p:font typeface="Proxima Nova Bold" panose="020B0604020202020204" charset="0"/>
      <p:regular r:id="rId28"/>
    </p:embeddedFont>
    <p:embeddedFont>
      <p:font typeface="Roboto" panose="02000000000000000000" pitchFamily="2"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1" d="100"/>
          <a:sy n="41" d="100"/>
        </p:scale>
        <p:origin x="82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E3F"/>
        </a:solidFill>
        <a:effectLst/>
      </p:bgPr>
    </p:bg>
    <p:spTree>
      <p:nvGrpSpPr>
        <p:cNvPr id="1" name=""/>
        <p:cNvGrpSpPr/>
        <p:nvPr/>
      </p:nvGrpSpPr>
      <p:grpSpPr>
        <a:xfrm>
          <a:off x="0" y="0"/>
          <a:ext cx="0" cy="0"/>
          <a:chOff x="0" y="0"/>
          <a:chExt cx="0" cy="0"/>
        </a:xfrm>
      </p:grpSpPr>
      <p:grpSp>
        <p:nvGrpSpPr>
          <p:cNvPr id="2" name="Group 2"/>
          <p:cNvGrpSpPr/>
          <p:nvPr/>
        </p:nvGrpSpPr>
        <p:grpSpPr>
          <a:xfrm>
            <a:off x="9144000" y="-12700"/>
            <a:ext cx="9144000" cy="10299700"/>
            <a:chOff x="0" y="0"/>
            <a:chExt cx="786406" cy="885799"/>
          </a:xfrm>
        </p:grpSpPr>
        <p:sp>
          <p:nvSpPr>
            <p:cNvPr id="3" name="Freeform 3"/>
            <p:cNvSpPr/>
            <p:nvPr/>
          </p:nvSpPr>
          <p:spPr>
            <a:xfrm>
              <a:off x="0" y="0"/>
              <a:ext cx="786406" cy="885799"/>
            </a:xfrm>
            <a:custGeom>
              <a:avLst/>
              <a:gdLst/>
              <a:ahLst/>
              <a:cxnLst/>
              <a:rect l="l" t="t" r="r" b="b"/>
              <a:pathLst>
                <a:path w="786406" h="885799">
                  <a:moveTo>
                    <a:pt x="0" y="0"/>
                  </a:moveTo>
                  <a:lnTo>
                    <a:pt x="786406" y="0"/>
                  </a:lnTo>
                  <a:lnTo>
                    <a:pt x="786406" y="885799"/>
                  </a:lnTo>
                  <a:lnTo>
                    <a:pt x="0" y="885799"/>
                  </a:lnTo>
                  <a:close/>
                </a:path>
              </a:pathLst>
            </a:custGeom>
            <a:blipFill>
              <a:blip r:embed="rId2"/>
              <a:stretch>
                <a:fillRect t="-157" b="-157"/>
              </a:stretch>
            </a:blipFill>
          </p:spPr>
        </p:sp>
      </p:grpSp>
      <p:grpSp>
        <p:nvGrpSpPr>
          <p:cNvPr id="4" name="Group 4"/>
          <p:cNvGrpSpPr/>
          <p:nvPr/>
        </p:nvGrpSpPr>
        <p:grpSpPr>
          <a:xfrm>
            <a:off x="681785" y="659606"/>
            <a:ext cx="8462215" cy="3817084"/>
            <a:chOff x="0" y="-9525"/>
            <a:chExt cx="11282953" cy="5089444"/>
          </a:xfrm>
        </p:grpSpPr>
        <p:sp>
          <p:nvSpPr>
            <p:cNvPr id="5" name="TextBox 5"/>
            <p:cNvSpPr txBox="1"/>
            <p:nvPr/>
          </p:nvSpPr>
          <p:spPr>
            <a:xfrm>
              <a:off x="0" y="-9525"/>
              <a:ext cx="9182100" cy="3116792"/>
            </a:xfrm>
            <a:prstGeom prst="rect">
              <a:avLst/>
            </a:prstGeom>
          </p:spPr>
          <p:txBody>
            <a:bodyPr lIns="0" tIns="0" rIns="0" bIns="0" rtlCol="0" anchor="t">
              <a:spAutoFit/>
            </a:bodyPr>
            <a:lstStyle/>
            <a:p>
              <a:pPr marL="0" lvl="0" indent="0" algn="l">
                <a:lnSpc>
                  <a:spcPts val="8800"/>
                </a:lnSpc>
              </a:pPr>
              <a:r>
                <a:rPr lang="en-US" sz="8000" b="1">
                  <a:solidFill>
                    <a:srgbClr val="A8C0F0"/>
                  </a:solidFill>
                  <a:latin typeface="Poppins Bold"/>
                  <a:ea typeface="Poppins Bold"/>
                  <a:cs typeface="Poppins Bold"/>
                  <a:sym typeface="Poppins Bold"/>
                </a:rPr>
                <a:t>ASURE: Trust Verified</a:t>
              </a:r>
            </a:p>
          </p:txBody>
        </p:sp>
        <p:sp>
          <p:nvSpPr>
            <p:cNvPr id="6" name="TextBox 6"/>
            <p:cNvSpPr txBox="1"/>
            <p:nvPr/>
          </p:nvSpPr>
          <p:spPr>
            <a:xfrm>
              <a:off x="0" y="3643629"/>
              <a:ext cx="11282953" cy="1436290"/>
            </a:xfrm>
            <a:prstGeom prst="rect">
              <a:avLst/>
            </a:prstGeom>
          </p:spPr>
          <p:txBody>
            <a:bodyPr wrap="square" lIns="0" tIns="0" rIns="0" bIns="0" rtlCol="0" anchor="t">
              <a:spAutoFit/>
            </a:bodyPr>
            <a:lstStyle/>
            <a:p>
              <a:pPr marL="0" lvl="0" indent="0" algn="l">
                <a:lnSpc>
                  <a:spcPts val="4200"/>
                </a:lnSpc>
                <a:spcBef>
                  <a:spcPct val="0"/>
                </a:spcBef>
              </a:pPr>
              <a:r>
                <a:rPr lang="en-US" sz="4400" b="1" dirty="0">
                  <a:solidFill>
                    <a:srgbClr val="9FBFEC"/>
                  </a:solidFill>
                  <a:latin typeface="Proxima Nova Bold"/>
                  <a:ea typeface="Proxima Nova Bold"/>
                  <a:cs typeface="Proxima Nova Bold"/>
                  <a:sym typeface="Proxima Nova Bold"/>
                </a:rPr>
                <a:t>Innovative solutions for secure verification</a:t>
              </a:r>
            </a:p>
          </p:txBody>
        </p:sp>
      </p:grpSp>
      <p:sp>
        <p:nvSpPr>
          <p:cNvPr id="7" name="TextBox 7"/>
          <p:cNvSpPr txBox="1"/>
          <p:nvPr/>
        </p:nvSpPr>
        <p:spPr>
          <a:xfrm>
            <a:off x="152400" y="6288552"/>
            <a:ext cx="8991600" cy="3200620"/>
          </a:xfrm>
          <a:prstGeom prst="rect">
            <a:avLst/>
          </a:prstGeom>
        </p:spPr>
        <p:txBody>
          <a:bodyPr wrap="square" lIns="0" tIns="0" rIns="0" bIns="0" rtlCol="0" anchor="t">
            <a:spAutoFit/>
          </a:bodyPr>
          <a:lstStyle/>
          <a:p>
            <a:pPr marL="0" lvl="0" indent="0" algn="l">
              <a:spcBef>
                <a:spcPct val="0"/>
              </a:spcBef>
            </a:pPr>
            <a:r>
              <a:rPr lang="en-US" sz="2399" dirty="0">
                <a:solidFill>
                  <a:srgbClr val="F0F4F8"/>
                </a:solidFill>
                <a:latin typeface="Proxima Nova"/>
                <a:ea typeface="Proxima Nova"/>
                <a:cs typeface="Proxima Nova"/>
                <a:sym typeface="Proxima Nova"/>
              </a:rPr>
              <a:t>Presented by </a:t>
            </a:r>
          </a:p>
          <a:p>
            <a:pPr marL="0" lvl="0" indent="0" algn="l">
              <a:spcBef>
                <a:spcPct val="0"/>
              </a:spcBef>
            </a:pPr>
            <a:endParaRPr lang="en-US" sz="2399" dirty="0">
              <a:solidFill>
                <a:srgbClr val="F0F4F8"/>
              </a:solidFill>
              <a:latin typeface="Proxima Nova"/>
              <a:ea typeface="Proxima Nova"/>
              <a:cs typeface="Proxima Nova"/>
              <a:sym typeface="Proxima Nova"/>
            </a:endParaRPr>
          </a:p>
          <a:p>
            <a:pPr marL="0" lvl="0" indent="0" algn="l">
              <a:spcBef>
                <a:spcPct val="0"/>
              </a:spcBef>
            </a:pPr>
            <a:r>
              <a:rPr lang="en-US" sz="3200" b="0" i="0" dirty="0">
                <a:solidFill>
                  <a:schemeClr val="bg1"/>
                </a:solidFill>
                <a:effectLst/>
                <a:latin typeface="Roboto" panose="02000000000000000000" pitchFamily="2" charset="0"/>
              </a:rPr>
              <a:t>Ahnaf Akib Ahmed - 2312304642</a:t>
            </a:r>
            <a:br>
              <a:rPr lang="en-US" sz="3200" dirty="0">
                <a:solidFill>
                  <a:schemeClr val="bg1"/>
                </a:solidFill>
              </a:rPr>
            </a:br>
            <a:r>
              <a:rPr lang="en-US" sz="3200" b="0" i="0" dirty="0">
                <a:solidFill>
                  <a:schemeClr val="bg1"/>
                </a:solidFill>
                <a:effectLst/>
                <a:latin typeface="Roboto" panose="02000000000000000000" pitchFamily="2" charset="0"/>
              </a:rPr>
              <a:t>Tasmia Rashed Ramisha - 2312131042</a:t>
            </a:r>
            <a:br>
              <a:rPr lang="en-US" sz="3200" dirty="0">
                <a:solidFill>
                  <a:schemeClr val="bg1"/>
                </a:solidFill>
              </a:rPr>
            </a:br>
            <a:r>
              <a:rPr lang="en-US" sz="3200" b="0" i="0" dirty="0">
                <a:solidFill>
                  <a:schemeClr val="bg1"/>
                </a:solidFill>
                <a:effectLst/>
                <a:latin typeface="Roboto" panose="02000000000000000000" pitchFamily="2" charset="0"/>
              </a:rPr>
              <a:t>Mohammad Zonayet Hassan Polok - 2031267642 </a:t>
            </a:r>
            <a:br>
              <a:rPr lang="en-US" sz="3200" dirty="0">
                <a:solidFill>
                  <a:schemeClr val="bg1"/>
                </a:solidFill>
              </a:rPr>
            </a:br>
            <a:r>
              <a:rPr lang="en-US" sz="3200" b="0" i="0" dirty="0">
                <a:solidFill>
                  <a:schemeClr val="bg1"/>
                </a:solidFill>
                <a:effectLst/>
                <a:latin typeface="Roboto" panose="02000000000000000000" pitchFamily="2" charset="0"/>
              </a:rPr>
              <a:t>Sumya Akter - 2111913642</a:t>
            </a:r>
            <a:endParaRPr lang="en-US" sz="3200" dirty="0">
              <a:solidFill>
                <a:schemeClr val="bg1"/>
              </a:solidFill>
              <a:latin typeface="Proxima Nova"/>
              <a:ea typeface="Proxima Nova"/>
              <a:cs typeface="Proxima Nova"/>
              <a:sym typeface="Proxima Nova"/>
            </a:endParaRPr>
          </a:p>
        </p:txBody>
      </p:sp>
      <p:grpSp>
        <p:nvGrpSpPr>
          <p:cNvPr id="8" name="Group 8"/>
          <p:cNvGrpSpPr/>
          <p:nvPr/>
        </p:nvGrpSpPr>
        <p:grpSpPr>
          <a:xfrm>
            <a:off x="14759735" y="666750"/>
            <a:ext cx="2861515" cy="1430758"/>
            <a:chOff x="0" y="0"/>
            <a:chExt cx="3815353" cy="1907677"/>
          </a:xfrm>
        </p:grpSpPr>
        <p:grpSp>
          <p:nvGrpSpPr>
            <p:cNvPr id="9" name="Group 9"/>
            <p:cNvGrpSpPr/>
            <p:nvPr/>
          </p:nvGrpSpPr>
          <p:grpSpPr>
            <a:xfrm>
              <a:off x="0" y="0"/>
              <a:ext cx="1907677" cy="1907677"/>
              <a:chOff x="0" y="0"/>
              <a:chExt cx="812800" cy="812800"/>
            </a:xfrm>
          </p:grpSpPr>
          <p:sp>
            <p:nvSpPr>
              <p:cNvPr id="10" name="Freeform 1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A1E3F"/>
              </a:solidFill>
            </p:spPr>
          </p:sp>
          <p:sp>
            <p:nvSpPr>
              <p:cNvPr id="11" name="TextBox 11"/>
              <p:cNvSpPr txBox="1"/>
              <p:nvPr/>
            </p:nvSpPr>
            <p:spPr>
              <a:xfrm>
                <a:off x="0" y="9525"/>
                <a:ext cx="812800" cy="803275"/>
              </a:xfrm>
              <a:prstGeom prst="rect">
                <a:avLst/>
              </a:prstGeom>
            </p:spPr>
            <p:txBody>
              <a:bodyPr lIns="50800" tIns="50800" rIns="50800" bIns="50800" rtlCol="0" anchor="ctr"/>
              <a:lstStyle/>
              <a:p>
                <a:pPr algn="ctr">
                  <a:lnSpc>
                    <a:spcPts val="2879"/>
                  </a:lnSpc>
                </a:pPr>
                <a:endParaRPr/>
              </a:p>
            </p:txBody>
          </p:sp>
        </p:grpSp>
        <p:grpSp>
          <p:nvGrpSpPr>
            <p:cNvPr id="12" name="Group 12"/>
            <p:cNvGrpSpPr/>
            <p:nvPr/>
          </p:nvGrpSpPr>
          <p:grpSpPr>
            <a:xfrm>
              <a:off x="1907677" y="0"/>
              <a:ext cx="1907677" cy="190767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A1E3F"/>
              </a:solidFill>
            </p:spPr>
          </p:sp>
          <p:sp>
            <p:nvSpPr>
              <p:cNvPr id="14" name="TextBox 14"/>
              <p:cNvSpPr txBox="1"/>
              <p:nvPr/>
            </p:nvSpPr>
            <p:spPr>
              <a:xfrm>
                <a:off x="76200" y="85725"/>
                <a:ext cx="660400" cy="650875"/>
              </a:xfrm>
              <a:prstGeom prst="rect">
                <a:avLst/>
              </a:prstGeom>
            </p:spPr>
            <p:txBody>
              <a:bodyPr lIns="50800" tIns="50800" rIns="50800" bIns="50800" rtlCol="0" anchor="ctr"/>
              <a:lstStyle/>
              <a:p>
                <a:pPr algn="ctr">
                  <a:lnSpc>
                    <a:spcPts val="2879"/>
                  </a:lnSpc>
                </a:pPr>
                <a:endParaRPr/>
              </a:p>
            </p:txBody>
          </p:sp>
        </p:grpSp>
      </p:grpSp>
    </p:spTree>
  </p:cSld>
  <p:clrMapOvr>
    <a:masterClrMapping/>
  </p:clrMapOvr>
  <p:transition spd="slow">
    <p:wheel spokes="1"/>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91F3A"/>
        </a:solidFill>
        <a:effectLst/>
      </p:bgPr>
    </p:bg>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1457995" cy="1640244"/>
          </a:xfrm>
        </p:grpSpPr>
        <p:sp>
          <p:nvSpPr>
            <p:cNvPr id="3" name="Freeform 3"/>
            <p:cNvSpPr/>
            <p:nvPr/>
          </p:nvSpPr>
          <p:spPr>
            <a:xfrm>
              <a:off x="0" y="0"/>
              <a:ext cx="1457995" cy="1640244"/>
            </a:xfrm>
            <a:custGeom>
              <a:avLst/>
              <a:gdLst/>
              <a:ahLst/>
              <a:cxnLst/>
              <a:rect l="l" t="t" r="r" b="b"/>
              <a:pathLst>
                <a:path w="1457995" h="1640244">
                  <a:moveTo>
                    <a:pt x="0" y="0"/>
                  </a:moveTo>
                  <a:lnTo>
                    <a:pt x="1457995" y="0"/>
                  </a:lnTo>
                  <a:lnTo>
                    <a:pt x="1457995" y="1640244"/>
                  </a:lnTo>
                  <a:lnTo>
                    <a:pt x="0" y="1640244"/>
                  </a:lnTo>
                  <a:close/>
                </a:path>
              </a:pathLst>
            </a:custGeom>
            <a:blipFill>
              <a:blip r:embed="rId2"/>
              <a:stretch>
                <a:fillRect t="-219" b="-219"/>
              </a:stretch>
            </a:blipFill>
          </p:spPr>
        </p:sp>
      </p:grpSp>
      <p:grpSp>
        <p:nvGrpSpPr>
          <p:cNvPr id="4" name="Group 4"/>
          <p:cNvGrpSpPr/>
          <p:nvPr/>
        </p:nvGrpSpPr>
        <p:grpSpPr>
          <a:xfrm>
            <a:off x="672042" y="659606"/>
            <a:ext cx="6895616" cy="9154358"/>
            <a:chOff x="0" y="-9525"/>
            <a:chExt cx="9194155" cy="12205810"/>
          </a:xfrm>
        </p:grpSpPr>
        <p:sp>
          <p:nvSpPr>
            <p:cNvPr id="5" name="TextBox 5"/>
            <p:cNvSpPr txBox="1"/>
            <p:nvPr/>
          </p:nvSpPr>
          <p:spPr>
            <a:xfrm>
              <a:off x="0" y="2057400"/>
              <a:ext cx="9167398" cy="1308100"/>
            </a:xfrm>
            <a:prstGeom prst="rect">
              <a:avLst/>
            </a:prstGeom>
          </p:spPr>
          <p:txBody>
            <a:bodyPr lIns="0" tIns="0" rIns="0" bIns="0" rtlCol="0" anchor="t">
              <a:spAutoFit/>
            </a:bodyPr>
            <a:lstStyle/>
            <a:p>
              <a:pPr marL="0" lvl="0" indent="0" algn="l">
                <a:lnSpc>
                  <a:spcPts val="3900"/>
                </a:lnSpc>
              </a:pPr>
              <a:r>
                <a:rPr lang="en-US" sz="3000" b="1">
                  <a:solidFill>
                    <a:srgbClr val="9FBFEC"/>
                  </a:solidFill>
                  <a:latin typeface="Proxima Nova Bold"/>
                  <a:ea typeface="Proxima Nova Bold"/>
                  <a:cs typeface="Proxima Nova Bold"/>
                  <a:sym typeface="Proxima Nova Bold"/>
                </a:rPr>
                <a:t>Addressing the urgent issues of trust in verification processes</a:t>
              </a:r>
            </a:p>
          </p:txBody>
        </p:sp>
        <p:sp>
          <p:nvSpPr>
            <p:cNvPr id="6" name="TextBox 6"/>
            <p:cNvSpPr txBox="1"/>
            <p:nvPr/>
          </p:nvSpPr>
          <p:spPr>
            <a:xfrm>
              <a:off x="12055" y="4241800"/>
              <a:ext cx="9182100" cy="7954485"/>
            </a:xfrm>
            <a:prstGeom prst="rect">
              <a:avLst/>
            </a:prstGeom>
          </p:spPr>
          <p:txBody>
            <a:bodyPr lIns="0" tIns="0" rIns="0" bIns="0" rtlCol="0" anchor="t">
              <a:spAutoFit/>
            </a:bodyPr>
            <a:lstStyle/>
            <a:p>
              <a:pPr marL="518160" lvl="1" indent="-259080" algn="l">
                <a:lnSpc>
                  <a:spcPct val="150000"/>
                </a:lnSpc>
                <a:buFont typeface="Arial"/>
                <a:buChar char="•"/>
              </a:pPr>
              <a:r>
                <a:rPr lang="en-US" sz="4400" u="none" strike="noStrike" dirty="0">
                  <a:solidFill>
                    <a:srgbClr val="F0F4F8"/>
                  </a:solidFill>
                  <a:latin typeface="Proxima Nova"/>
                  <a:ea typeface="Proxima Nova"/>
                  <a:cs typeface="Proxima Nova"/>
                  <a:sym typeface="Proxima Nova"/>
                </a:rPr>
                <a:t>Fake certificates undermine credibility</a:t>
              </a:r>
            </a:p>
            <a:p>
              <a:pPr marL="518160" lvl="1" indent="-259080" algn="l">
                <a:lnSpc>
                  <a:spcPct val="150000"/>
                </a:lnSpc>
                <a:buFont typeface="Arial"/>
                <a:buChar char="•"/>
              </a:pPr>
              <a:r>
                <a:rPr lang="en-US" sz="4400" u="none" strike="noStrike" dirty="0">
                  <a:solidFill>
                    <a:srgbClr val="F0F4F8"/>
                  </a:solidFill>
                  <a:latin typeface="Proxima Nova"/>
                  <a:ea typeface="Proxima Nova"/>
                  <a:cs typeface="Proxima Nova"/>
                  <a:sym typeface="Proxima Nova"/>
                </a:rPr>
                <a:t>Fake medicines pose serious health risks</a:t>
              </a:r>
            </a:p>
            <a:p>
              <a:pPr marL="518160" lvl="1" indent="-259080" algn="l">
                <a:lnSpc>
                  <a:spcPct val="150000"/>
                </a:lnSpc>
                <a:buFont typeface="Arial"/>
                <a:buChar char="•"/>
              </a:pPr>
              <a:r>
                <a:rPr lang="en-US" sz="4400" u="none" strike="noStrike" dirty="0">
                  <a:solidFill>
                    <a:srgbClr val="F0F4F8"/>
                  </a:solidFill>
                  <a:latin typeface="Proxima Nova"/>
                  <a:ea typeface="Proxima Nova"/>
                  <a:cs typeface="Proxima Nova"/>
                  <a:sym typeface="Proxima Nova"/>
                </a:rPr>
                <a:t>Fake credentials affect employment integrity</a:t>
              </a:r>
            </a:p>
          </p:txBody>
        </p:sp>
        <p:sp>
          <p:nvSpPr>
            <p:cNvPr id="7" name="TextBox 7"/>
            <p:cNvSpPr txBox="1"/>
            <p:nvPr/>
          </p:nvSpPr>
          <p:spPr>
            <a:xfrm>
              <a:off x="0" y="-9525"/>
              <a:ext cx="9175044" cy="1630892"/>
            </a:xfrm>
            <a:prstGeom prst="rect">
              <a:avLst/>
            </a:prstGeom>
          </p:spPr>
          <p:txBody>
            <a:bodyPr lIns="0" tIns="0" rIns="0" bIns="0" rtlCol="0" anchor="t">
              <a:spAutoFit/>
            </a:bodyPr>
            <a:lstStyle/>
            <a:p>
              <a:pPr marL="0" lvl="0" indent="0" algn="l">
                <a:lnSpc>
                  <a:spcPts val="8800"/>
                </a:lnSpc>
              </a:pPr>
              <a:r>
                <a:rPr lang="en-US" sz="8000" b="1">
                  <a:solidFill>
                    <a:srgbClr val="A8C0F0"/>
                  </a:solidFill>
                  <a:latin typeface="Poppins Bold"/>
                  <a:ea typeface="Poppins Bold"/>
                  <a:cs typeface="Poppins Bold"/>
                  <a:sym typeface="Poppins Bold"/>
                </a:rPr>
                <a:t>The Problem</a:t>
              </a:r>
            </a:p>
          </p:txBody>
        </p:sp>
      </p:gr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F38"/>
        </a:solidFill>
        <a:effectLst/>
      </p:bgPr>
    </p:bg>
    <p:spTree>
      <p:nvGrpSpPr>
        <p:cNvPr id="1" name=""/>
        <p:cNvGrpSpPr/>
        <p:nvPr/>
      </p:nvGrpSpPr>
      <p:grpSpPr>
        <a:xfrm>
          <a:off x="0" y="0"/>
          <a:ext cx="0" cy="0"/>
          <a:chOff x="0" y="0"/>
          <a:chExt cx="0" cy="0"/>
        </a:xfrm>
      </p:grpSpPr>
      <p:grpSp>
        <p:nvGrpSpPr>
          <p:cNvPr id="2" name="Group 2"/>
          <p:cNvGrpSpPr/>
          <p:nvPr/>
        </p:nvGrpSpPr>
        <p:grpSpPr>
          <a:xfrm>
            <a:off x="666748" y="716756"/>
            <a:ext cx="6886577" cy="9350871"/>
            <a:chOff x="-2" y="66675"/>
            <a:chExt cx="9182102" cy="12467826"/>
          </a:xfrm>
        </p:grpSpPr>
        <p:sp>
          <p:nvSpPr>
            <p:cNvPr id="3" name="TextBox 3"/>
            <p:cNvSpPr txBox="1"/>
            <p:nvPr/>
          </p:nvSpPr>
          <p:spPr>
            <a:xfrm>
              <a:off x="-2" y="2043788"/>
              <a:ext cx="9182100" cy="667533"/>
            </a:xfrm>
            <a:prstGeom prst="rect">
              <a:avLst/>
            </a:prstGeom>
          </p:spPr>
          <p:txBody>
            <a:bodyPr lIns="0" tIns="0" rIns="0" bIns="0" rtlCol="0" anchor="t">
              <a:spAutoFit/>
            </a:bodyPr>
            <a:lstStyle/>
            <a:p>
              <a:pPr marL="0" lvl="0" indent="0" algn="just">
                <a:lnSpc>
                  <a:spcPts val="3600"/>
                </a:lnSpc>
                <a:spcBef>
                  <a:spcPct val="0"/>
                </a:spcBef>
              </a:pPr>
              <a:r>
                <a:rPr lang="en-US" sz="5400" b="1" u="none" dirty="0">
                  <a:solidFill>
                    <a:srgbClr val="9FBFEC"/>
                  </a:solidFill>
                  <a:latin typeface="Proxima Nova Bold"/>
                  <a:ea typeface="Proxima Nova Bold"/>
                  <a:cs typeface="Proxima Nova Bold"/>
                  <a:sym typeface="Proxima Nova Bold"/>
                </a:rPr>
                <a:t>Trust Erosion</a:t>
              </a:r>
            </a:p>
          </p:txBody>
        </p:sp>
        <p:sp>
          <p:nvSpPr>
            <p:cNvPr id="4" name="TextBox 4"/>
            <p:cNvSpPr txBox="1"/>
            <p:nvPr/>
          </p:nvSpPr>
          <p:spPr>
            <a:xfrm>
              <a:off x="-1" y="3225800"/>
              <a:ext cx="9182100" cy="9308701"/>
            </a:xfrm>
            <a:prstGeom prst="rect">
              <a:avLst/>
            </a:prstGeom>
          </p:spPr>
          <p:txBody>
            <a:bodyPr lIns="0" tIns="0" rIns="0" bIns="0" rtlCol="0" anchor="t">
              <a:spAutoFit/>
            </a:bodyPr>
            <a:lstStyle/>
            <a:p>
              <a:pPr marL="0" lvl="0" indent="0" algn="l">
                <a:lnSpc>
                  <a:spcPct val="150000"/>
                </a:lnSpc>
                <a:spcBef>
                  <a:spcPct val="0"/>
                </a:spcBef>
              </a:pPr>
              <a:r>
                <a:rPr lang="en-US" sz="4400" b="1" dirty="0">
                  <a:solidFill>
                    <a:srgbClr val="F0F4F8"/>
                  </a:solidFill>
                  <a:latin typeface="Proxima Nova Bold"/>
                  <a:ea typeface="Proxima Nova Bold"/>
                  <a:cs typeface="Proxima Nova Bold"/>
                  <a:sym typeface="Proxima Nova Bold"/>
                </a:rPr>
                <a:t>75% of people</a:t>
              </a:r>
              <a:r>
                <a:rPr lang="en-US" sz="4400" dirty="0">
                  <a:solidFill>
                    <a:srgbClr val="F0F4F8"/>
                  </a:solidFill>
                  <a:latin typeface="Proxima Nova"/>
                  <a:ea typeface="Proxima Nova"/>
                  <a:cs typeface="Proxima Nova"/>
                  <a:sym typeface="Proxima Nova"/>
                </a:rPr>
                <a:t> express concerns about the authenticity of certificates and credentials, leading to a significant decline in trust and increasing risks in various sectors.</a:t>
              </a:r>
            </a:p>
          </p:txBody>
        </p:sp>
        <p:sp>
          <p:nvSpPr>
            <p:cNvPr id="5" name="TextBox 5"/>
            <p:cNvSpPr txBox="1"/>
            <p:nvPr/>
          </p:nvSpPr>
          <p:spPr>
            <a:xfrm>
              <a:off x="0" y="66675"/>
              <a:ext cx="9182100" cy="1550459"/>
            </a:xfrm>
            <a:prstGeom prst="rect">
              <a:avLst/>
            </a:prstGeom>
          </p:spPr>
          <p:txBody>
            <a:bodyPr lIns="0" tIns="0" rIns="0" bIns="0" rtlCol="0" anchor="t">
              <a:spAutoFit/>
            </a:bodyPr>
            <a:lstStyle/>
            <a:p>
              <a:pPr marL="0" lvl="0" indent="0" algn="l">
                <a:lnSpc>
                  <a:spcPts val="8000"/>
                </a:lnSpc>
              </a:pPr>
              <a:r>
                <a:rPr lang="en-US" sz="8000" b="1">
                  <a:solidFill>
                    <a:srgbClr val="A8C0F0"/>
                  </a:solidFill>
                  <a:latin typeface="Poppins Bold"/>
                  <a:ea typeface="Poppins Bold"/>
                  <a:cs typeface="Poppins Bold"/>
                  <a:sym typeface="Poppins Bold"/>
                </a:rPr>
                <a:t>75%</a:t>
              </a:r>
            </a:p>
          </p:txBody>
        </p:sp>
      </p:grpSp>
      <p:grpSp>
        <p:nvGrpSpPr>
          <p:cNvPr id="6" name="Group 6"/>
          <p:cNvGrpSpPr/>
          <p:nvPr/>
        </p:nvGrpSpPr>
        <p:grpSpPr>
          <a:xfrm>
            <a:off x="9144000" y="0"/>
            <a:ext cx="9144000" cy="10287000"/>
            <a:chOff x="0" y="0"/>
            <a:chExt cx="812800" cy="914400"/>
          </a:xfrm>
        </p:grpSpPr>
        <p:sp>
          <p:nvSpPr>
            <p:cNvPr id="7" name="Freeform 7"/>
            <p:cNvSpPr/>
            <p:nvPr/>
          </p:nvSpPr>
          <p:spPr>
            <a:xfrm>
              <a:off x="0" y="0"/>
              <a:ext cx="812800" cy="914400"/>
            </a:xfrm>
            <a:custGeom>
              <a:avLst/>
              <a:gdLst/>
              <a:ahLst/>
              <a:cxnLst/>
              <a:rect l="l" t="t" r="r" b="b"/>
              <a:pathLst>
                <a:path w="812800" h="914400">
                  <a:moveTo>
                    <a:pt x="0" y="0"/>
                  </a:moveTo>
                  <a:lnTo>
                    <a:pt x="812800" y="0"/>
                  </a:lnTo>
                  <a:lnTo>
                    <a:pt x="812800" y="914400"/>
                  </a:lnTo>
                  <a:lnTo>
                    <a:pt x="0" y="914400"/>
                  </a:lnTo>
                  <a:close/>
                </a:path>
              </a:pathLst>
            </a:custGeom>
            <a:blipFill>
              <a:blip r:embed="rId2"/>
              <a:stretch>
                <a:fillRect t="-219" b="-219"/>
              </a:stretch>
            </a:blipFill>
          </p:spPr>
        </p:sp>
      </p:gr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E3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9144000" cy="10283408"/>
            <a:chOff x="0" y="0"/>
            <a:chExt cx="1534063" cy="1725218"/>
          </a:xfrm>
        </p:grpSpPr>
        <p:sp>
          <p:nvSpPr>
            <p:cNvPr id="3" name="Freeform 3"/>
            <p:cNvSpPr/>
            <p:nvPr/>
          </p:nvSpPr>
          <p:spPr>
            <a:xfrm>
              <a:off x="0" y="0"/>
              <a:ext cx="1534063" cy="1725219"/>
            </a:xfrm>
            <a:custGeom>
              <a:avLst/>
              <a:gdLst/>
              <a:ahLst/>
              <a:cxnLst/>
              <a:rect l="l" t="t" r="r" b="b"/>
              <a:pathLst>
                <a:path w="1534063" h="1725219">
                  <a:moveTo>
                    <a:pt x="0" y="0"/>
                  </a:moveTo>
                  <a:lnTo>
                    <a:pt x="1534063" y="0"/>
                  </a:lnTo>
                  <a:lnTo>
                    <a:pt x="1534063" y="1725219"/>
                  </a:lnTo>
                  <a:lnTo>
                    <a:pt x="0" y="1725219"/>
                  </a:lnTo>
                  <a:close/>
                </a:path>
              </a:pathLst>
            </a:custGeom>
            <a:blipFill>
              <a:blip r:embed="rId2"/>
              <a:stretch>
                <a:fillRect t="-237" b="-237"/>
              </a:stretch>
            </a:blipFill>
          </p:spPr>
        </p:sp>
      </p:grpSp>
      <p:grpSp>
        <p:nvGrpSpPr>
          <p:cNvPr id="4" name="Group 4"/>
          <p:cNvGrpSpPr/>
          <p:nvPr/>
        </p:nvGrpSpPr>
        <p:grpSpPr>
          <a:xfrm>
            <a:off x="10734675" y="666750"/>
            <a:ext cx="6886575" cy="6793611"/>
            <a:chOff x="0" y="0"/>
            <a:chExt cx="9182100" cy="9058146"/>
          </a:xfrm>
        </p:grpSpPr>
        <p:sp>
          <p:nvSpPr>
            <p:cNvPr id="5" name="TextBox 5"/>
            <p:cNvSpPr txBox="1"/>
            <p:nvPr/>
          </p:nvSpPr>
          <p:spPr>
            <a:xfrm>
              <a:off x="0" y="3812095"/>
              <a:ext cx="9182100" cy="5246051"/>
            </a:xfrm>
            <a:prstGeom prst="rect">
              <a:avLst/>
            </a:prstGeom>
          </p:spPr>
          <p:txBody>
            <a:bodyPr lIns="0" tIns="0" rIns="0" bIns="0" rtlCol="0" anchor="t">
              <a:spAutoFit/>
            </a:bodyPr>
            <a:lstStyle/>
            <a:p>
              <a:pPr marL="0" lvl="0" indent="0" algn="l">
                <a:lnSpc>
                  <a:spcPct val="150000"/>
                </a:lnSpc>
              </a:pPr>
              <a:r>
                <a:rPr lang="en-US" sz="4400" dirty="0">
                  <a:solidFill>
                    <a:srgbClr val="F0F4F8"/>
                  </a:solidFill>
                  <a:latin typeface="Proxima Nova"/>
                  <a:ea typeface="Proxima Nova"/>
                  <a:cs typeface="Proxima Nova"/>
                  <a:sym typeface="Proxima Nova"/>
                </a:rPr>
                <a:t>Instant AI Verification &amp; suggestions for Certificates,  Medicines and Any Random Products.</a:t>
              </a:r>
            </a:p>
          </p:txBody>
        </p:sp>
        <p:sp>
          <p:nvSpPr>
            <p:cNvPr id="6" name="TextBox 6"/>
            <p:cNvSpPr txBox="1"/>
            <p:nvPr/>
          </p:nvSpPr>
          <p:spPr>
            <a:xfrm>
              <a:off x="0" y="0"/>
              <a:ext cx="9182100" cy="3141133"/>
            </a:xfrm>
            <a:prstGeom prst="rect">
              <a:avLst/>
            </a:prstGeom>
          </p:spPr>
          <p:txBody>
            <a:bodyPr lIns="0" tIns="0" rIns="0" bIns="0" rtlCol="0" anchor="t">
              <a:spAutoFit/>
            </a:bodyPr>
            <a:lstStyle/>
            <a:p>
              <a:pPr marL="0" lvl="0" indent="0" algn="l">
                <a:lnSpc>
                  <a:spcPts val="6049"/>
                </a:lnSpc>
              </a:pPr>
              <a:r>
                <a:rPr lang="en-US" sz="5499" b="1">
                  <a:solidFill>
                    <a:srgbClr val="9FBFEC"/>
                  </a:solidFill>
                  <a:latin typeface="Poppins Bold"/>
                  <a:ea typeface="Poppins Bold"/>
                  <a:cs typeface="Poppins Bold"/>
                  <a:sym typeface="Poppins Bold"/>
                </a:rPr>
                <a:t>ASURE: Your All-in-One Verification Platform</a:t>
              </a: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91F3A"/>
        </a:solidFill>
        <a:effectLst/>
      </p:bgPr>
    </p:bg>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1457995" cy="1640244"/>
          </a:xfrm>
        </p:grpSpPr>
        <p:sp>
          <p:nvSpPr>
            <p:cNvPr id="3" name="Freeform 3"/>
            <p:cNvSpPr/>
            <p:nvPr/>
          </p:nvSpPr>
          <p:spPr>
            <a:xfrm>
              <a:off x="0" y="0"/>
              <a:ext cx="1457995" cy="1640244"/>
            </a:xfrm>
            <a:custGeom>
              <a:avLst/>
              <a:gdLst/>
              <a:ahLst/>
              <a:cxnLst/>
              <a:rect l="l" t="t" r="r" b="b"/>
              <a:pathLst>
                <a:path w="1457995" h="1640244">
                  <a:moveTo>
                    <a:pt x="0" y="0"/>
                  </a:moveTo>
                  <a:lnTo>
                    <a:pt x="1457995" y="0"/>
                  </a:lnTo>
                  <a:lnTo>
                    <a:pt x="1457995" y="1640244"/>
                  </a:lnTo>
                  <a:lnTo>
                    <a:pt x="0" y="1640244"/>
                  </a:lnTo>
                  <a:close/>
                </a:path>
              </a:pathLst>
            </a:custGeom>
            <a:blipFill>
              <a:blip r:embed="rId2"/>
              <a:stretch>
                <a:fillRect t="-219" b="-219"/>
              </a:stretch>
            </a:blipFill>
          </p:spPr>
        </p:sp>
      </p:grpSp>
      <p:grpSp>
        <p:nvGrpSpPr>
          <p:cNvPr id="4" name="Group 4"/>
          <p:cNvGrpSpPr/>
          <p:nvPr/>
        </p:nvGrpSpPr>
        <p:grpSpPr>
          <a:xfrm>
            <a:off x="-25831" y="311622"/>
            <a:ext cx="9144000" cy="8369820"/>
            <a:chOff x="-1005718" y="-254429"/>
            <a:chExt cx="12192000" cy="11159760"/>
          </a:xfrm>
        </p:grpSpPr>
        <p:sp>
          <p:nvSpPr>
            <p:cNvPr id="5" name="TextBox 5"/>
            <p:cNvSpPr txBox="1"/>
            <p:nvPr/>
          </p:nvSpPr>
          <p:spPr>
            <a:xfrm>
              <a:off x="0" y="4187527"/>
              <a:ext cx="10859049" cy="2000548"/>
            </a:xfrm>
            <a:prstGeom prst="rect">
              <a:avLst/>
            </a:prstGeom>
          </p:spPr>
          <p:txBody>
            <a:bodyPr wrap="square" lIns="0" tIns="0" rIns="0" bIns="0" rtlCol="0" anchor="t">
              <a:spAutoFit/>
            </a:bodyPr>
            <a:lstStyle/>
            <a:p>
              <a:pPr marL="0" lvl="0" indent="0" algn="l">
                <a:lnSpc>
                  <a:spcPts val="3900"/>
                </a:lnSpc>
              </a:pPr>
              <a:r>
                <a:rPr lang="en-US" sz="3600" b="1" dirty="0">
                  <a:solidFill>
                    <a:srgbClr val="9FBFEC"/>
                  </a:solidFill>
                  <a:latin typeface="Proxima Nova Bold"/>
                  <a:ea typeface="Proxima Nova Bold"/>
                  <a:cs typeface="Proxima Nova Bold"/>
                  <a:sym typeface="Proxima Nova Bold"/>
                </a:rPr>
                <a:t>Comprehensive verification for certificates, medicines, and identities using advanced technology.</a:t>
              </a:r>
            </a:p>
          </p:txBody>
        </p:sp>
        <p:sp>
          <p:nvSpPr>
            <p:cNvPr id="6" name="TextBox 6"/>
            <p:cNvSpPr txBox="1"/>
            <p:nvPr/>
          </p:nvSpPr>
          <p:spPr>
            <a:xfrm>
              <a:off x="-1005718" y="6391275"/>
              <a:ext cx="12192000" cy="4514056"/>
            </a:xfrm>
            <a:prstGeom prst="rect">
              <a:avLst/>
            </a:prstGeom>
          </p:spPr>
          <p:txBody>
            <a:bodyPr wrap="square" lIns="0" tIns="0" rIns="0" bIns="0" rtlCol="0" anchor="t">
              <a:spAutoFit/>
            </a:bodyPr>
            <a:lstStyle/>
            <a:p>
              <a:pPr marL="518160" lvl="1" indent="-259080" algn="l">
                <a:buFont typeface="Arial"/>
                <a:buChar char="•"/>
              </a:pPr>
              <a:r>
                <a:rPr lang="en-US" sz="4400" u="none" strike="noStrike" dirty="0">
                  <a:solidFill>
                    <a:srgbClr val="F0F4F8"/>
                  </a:solidFill>
                  <a:latin typeface="Proxima Nova"/>
                  <a:ea typeface="Proxima Nova"/>
                  <a:cs typeface="Proxima Nova"/>
                  <a:sym typeface="Proxima Nova"/>
                </a:rPr>
                <a:t>Verifies certificates for authenticity</a:t>
              </a:r>
            </a:p>
            <a:p>
              <a:pPr marL="518160" lvl="1" indent="-259080" algn="l">
                <a:buFont typeface="Arial"/>
                <a:buChar char="•"/>
              </a:pPr>
              <a:r>
                <a:rPr lang="en-US" sz="4400" u="none" strike="noStrike" dirty="0">
                  <a:solidFill>
                    <a:srgbClr val="F0F4F8"/>
                  </a:solidFill>
                  <a:latin typeface="Proxima Nova"/>
                  <a:ea typeface="Proxima Nova"/>
                  <a:cs typeface="Proxima Nova"/>
                  <a:sym typeface="Proxima Nova"/>
                </a:rPr>
                <a:t>Checks medicines for safety</a:t>
              </a:r>
            </a:p>
            <a:p>
              <a:pPr marL="518160" lvl="1" indent="-259080" algn="l">
                <a:buFont typeface="Arial"/>
                <a:buChar char="•"/>
              </a:pPr>
              <a:r>
                <a:rPr lang="en-US" sz="4400" dirty="0">
                  <a:solidFill>
                    <a:srgbClr val="F0F4F8"/>
                  </a:solidFill>
                  <a:latin typeface="Proxima Nova"/>
                  <a:ea typeface="Proxima Nova"/>
                  <a:cs typeface="Proxima Nova"/>
                  <a:sym typeface="Proxima Nova"/>
                </a:rPr>
                <a:t>Suggest medicines for patient </a:t>
              </a:r>
            </a:p>
            <a:p>
              <a:pPr marL="518160" lvl="1" indent="-259080" algn="l">
                <a:buFont typeface="Arial"/>
                <a:buChar char="•"/>
              </a:pPr>
              <a:r>
                <a:rPr lang="en-US" sz="4400" dirty="0">
                  <a:solidFill>
                    <a:srgbClr val="F0F4F8"/>
                  </a:solidFill>
                  <a:latin typeface="Proxima Nova"/>
                  <a:ea typeface="Proxima Nova"/>
                  <a:cs typeface="Proxima Nova"/>
                  <a:sym typeface="Proxima Nova"/>
                </a:rPr>
                <a:t>Suggest Related product Available in market and their prices</a:t>
              </a:r>
              <a:endParaRPr lang="en-US" sz="4400" u="none" strike="noStrike" dirty="0">
                <a:solidFill>
                  <a:srgbClr val="F0F4F8"/>
                </a:solidFill>
                <a:latin typeface="Proxima Nova"/>
                <a:ea typeface="Proxima Nova"/>
                <a:cs typeface="Proxima Nova"/>
                <a:sym typeface="Proxima Nova"/>
              </a:endParaRPr>
            </a:p>
          </p:txBody>
        </p:sp>
        <p:sp>
          <p:nvSpPr>
            <p:cNvPr id="7" name="TextBox 7"/>
            <p:cNvSpPr txBox="1"/>
            <p:nvPr/>
          </p:nvSpPr>
          <p:spPr>
            <a:xfrm>
              <a:off x="0" y="-254429"/>
              <a:ext cx="9175044" cy="4602692"/>
            </a:xfrm>
            <a:prstGeom prst="rect">
              <a:avLst/>
            </a:prstGeom>
          </p:spPr>
          <p:txBody>
            <a:bodyPr lIns="0" tIns="0" rIns="0" bIns="0" rtlCol="0" anchor="t">
              <a:spAutoFit/>
            </a:bodyPr>
            <a:lstStyle/>
            <a:p>
              <a:pPr marL="0" lvl="0" indent="0" algn="l">
                <a:lnSpc>
                  <a:spcPts val="8800"/>
                </a:lnSpc>
              </a:pPr>
              <a:r>
                <a:rPr lang="en-US" sz="8000" b="1" dirty="0">
                  <a:solidFill>
                    <a:srgbClr val="A8C0F0"/>
                  </a:solidFill>
                  <a:latin typeface="Poppins Bold"/>
                  <a:ea typeface="Poppins Bold"/>
                  <a:cs typeface="Poppins Bold"/>
                  <a:sym typeface="Poppins Bold"/>
                </a:rPr>
                <a:t>ASURE’s Core Functions</a:t>
              </a: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F38"/>
        </a:solidFill>
        <a:effectLst/>
      </p:bgPr>
    </p:bg>
    <p:spTree>
      <p:nvGrpSpPr>
        <p:cNvPr id="1" name=""/>
        <p:cNvGrpSpPr/>
        <p:nvPr/>
      </p:nvGrpSpPr>
      <p:grpSpPr>
        <a:xfrm>
          <a:off x="0" y="0"/>
          <a:ext cx="0" cy="0"/>
          <a:chOff x="0" y="0"/>
          <a:chExt cx="0" cy="0"/>
        </a:xfrm>
      </p:grpSpPr>
      <p:grpSp>
        <p:nvGrpSpPr>
          <p:cNvPr id="2" name="Group 2"/>
          <p:cNvGrpSpPr/>
          <p:nvPr/>
        </p:nvGrpSpPr>
        <p:grpSpPr>
          <a:xfrm>
            <a:off x="666750" y="659606"/>
            <a:ext cx="8020050" cy="9414218"/>
            <a:chOff x="0" y="-9525"/>
            <a:chExt cx="10693400" cy="12552288"/>
          </a:xfrm>
        </p:grpSpPr>
        <p:sp>
          <p:nvSpPr>
            <p:cNvPr id="3" name="TextBox 3"/>
            <p:cNvSpPr txBox="1"/>
            <p:nvPr/>
          </p:nvSpPr>
          <p:spPr>
            <a:xfrm>
              <a:off x="0" y="-9525"/>
              <a:ext cx="9182100" cy="3116792"/>
            </a:xfrm>
            <a:prstGeom prst="rect">
              <a:avLst/>
            </a:prstGeom>
          </p:spPr>
          <p:txBody>
            <a:bodyPr lIns="0" tIns="0" rIns="0" bIns="0" rtlCol="0" anchor="t">
              <a:spAutoFit/>
            </a:bodyPr>
            <a:lstStyle/>
            <a:p>
              <a:pPr marL="0" lvl="0" indent="0" algn="l">
                <a:lnSpc>
                  <a:spcPts val="8800"/>
                </a:lnSpc>
              </a:pPr>
              <a:r>
                <a:rPr lang="en-US" sz="8000" b="1">
                  <a:solidFill>
                    <a:srgbClr val="A8C0F0"/>
                  </a:solidFill>
                  <a:latin typeface="Poppins Bold"/>
                  <a:ea typeface="Poppins Bold"/>
                  <a:cs typeface="Poppins Bold"/>
                  <a:sym typeface="Poppins Bold"/>
                </a:rPr>
                <a:t>How ASURE Works</a:t>
              </a:r>
            </a:p>
          </p:txBody>
        </p:sp>
        <p:sp>
          <p:nvSpPr>
            <p:cNvPr id="4" name="TextBox 4"/>
            <p:cNvSpPr txBox="1"/>
            <p:nvPr/>
          </p:nvSpPr>
          <p:spPr>
            <a:xfrm>
              <a:off x="0" y="3514653"/>
              <a:ext cx="10693400" cy="9028110"/>
            </a:xfrm>
            <a:prstGeom prst="rect">
              <a:avLst/>
            </a:prstGeom>
          </p:spPr>
          <p:txBody>
            <a:bodyPr wrap="square" lIns="0" tIns="0" rIns="0" bIns="0" rtlCol="0" anchor="t">
              <a:spAutoFit/>
            </a:bodyPr>
            <a:lstStyle/>
            <a:p>
              <a:pPr marL="0" lvl="0" indent="0" algn="l">
                <a:spcBef>
                  <a:spcPct val="0"/>
                </a:spcBef>
              </a:pPr>
              <a:r>
                <a:rPr lang="en-US" sz="4400" dirty="0">
                  <a:solidFill>
                    <a:srgbClr val="F0F4F8"/>
                  </a:solidFill>
                  <a:latin typeface="Proxima Nova"/>
                  <a:ea typeface="Proxima Nova"/>
                  <a:cs typeface="Proxima Nova"/>
                  <a:sym typeface="Proxima Nova"/>
                </a:rPr>
                <a:t>Upload a document or image or you can go through some Barcodes and Numbers and our advanced AI technology analyzes the data swiftly, delivering an instant result. This seamless process enhances security and ensures authenticity, making verification efficient and reliable for users.</a:t>
              </a:r>
            </a:p>
          </p:txBody>
        </p:sp>
      </p:grpSp>
      <p:grpSp>
        <p:nvGrpSpPr>
          <p:cNvPr id="5" name="Group 5"/>
          <p:cNvGrpSpPr/>
          <p:nvPr/>
        </p:nvGrpSpPr>
        <p:grpSpPr>
          <a:xfrm>
            <a:off x="9144000" y="0"/>
            <a:ext cx="9144000" cy="10287000"/>
            <a:chOff x="0" y="0"/>
            <a:chExt cx="1534063" cy="1725821"/>
          </a:xfrm>
        </p:grpSpPr>
        <p:sp>
          <p:nvSpPr>
            <p:cNvPr id="6" name="Freeform 6"/>
            <p:cNvSpPr/>
            <p:nvPr/>
          </p:nvSpPr>
          <p:spPr>
            <a:xfrm>
              <a:off x="0" y="0"/>
              <a:ext cx="1534063" cy="1725821"/>
            </a:xfrm>
            <a:custGeom>
              <a:avLst/>
              <a:gdLst/>
              <a:ahLst/>
              <a:cxnLst/>
              <a:rect l="l" t="t" r="r" b="b"/>
              <a:pathLst>
                <a:path w="1534063" h="1725821">
                  <a:moveTo>
                    <a:pt x="0" y="0"/>
                  </a:moveTo>
                  <a:lnTo>
                    <a:pt x="1534063" y="0"/>
                  </a:lnTo>
                  <a:lnTo>
                    <a:pt x="1534063" y="1725821"/>
                  </a:lnTo>
                  <a:lnTo>
                    <a:pt x="0" y="1725821"/>
                  </a:lnTo>
                  <a:close/>
                </a:path>
              </a:pathLst>
            </a:custGeom>
            <a:blipFill>
              <a:blip r:embed="rId2"/>
              <a:stretch>
                <a:fillRect t="-219" b="-219"/>
              </a:stretch>
            </a:blipFill>
          </p:spPr>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E3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9144000" cy="10287000"/>
            <a:chOff x="0" y="0"/>
            <a:chExt cx="1083733" cy="1219200"/>
          </a:xfrm>
        </p:grpSpPr>
        <p:sp>
          <p:nvSpPr>
            <p:cNvPr id="3" name="Freeform 3"/>
            <p:cNvSpPr/>
            <p:nvPr/>
          </p:nvSpPr>
          <p:spPr>
            <a:xfrm>
              <a:off x="0" y="0"/>
              <a:ext cx="1083733" cy="1219200"/>
            </a:xfrm>
            <a:custGeom>
              <a:avLst/>
              <a:gdLst/>
              <a:ahLst/>
              <a:cxnLst/>
              <a:rect l="l" t="t" r="r" b="b"/>
              <a:pathLst>
                <a:path w="1083733" h="1219200">
                  <a:moveTo>
                    <a:pt x="0" y="0"/>
                  </a:moveTo>
                  <a:lnTo>
                    <a:pt x="1083733" y="0"/>
                  </a:lnTo>
                  <a:lnTo>
                    <a:pt x="1083733" y="1219200"/>
                  </a:lnTo>
                  <a:lnTo>
                    <a:pt x="0" y="1219200"/>
                  </a:lnTo>
                  <a:close/>
                </a:path>
              </a:pathLst>
            </a:custGeom>
            <a:blipFill>
              <a:blip r:embed="rId2"/>
              <a:stretch>
                <a:fillRect t="-219" b="-219"/>
              </a:stretch>
            </a:blipFill>
          </p:spPr>
        </p:sp>
      </p:grpSp>
      <p:grpSp>
        <p:nvGrpSpPr>
          <p:cNvPr id="4" name="Group 4"/>
          <p:cNvGrpSpPr/>
          <p:nvPr/>
        </p:nvGrpSpPr>
        <p:grpSpPr>
          <a:xfrm>
            <a:off x="10734675" y="666750"/>
            <a:ext cx="6886575" cy="3511227"/>
            <a:chOff x="0" y="0"/>
            <a:chExt cx="9182100" cy="4681636"/>
          </a:xfrm>
        </p:grpSpPr>
        <p:sp>
          <p:nvSpPr>
            <p:cNvPr id="5" name="TextBox 5"/>
            <p:cNvSpPr txBox="1"/>
            <p:nvPr/>
          </p:nvSpPr>
          <p:spPr>
            <a:xfrm>
              <a:off x="0" y="-9525"/>
              <a:ext cx="9182100" cy="3116792"/>
            </a:xfrm>
            <a:prstGeom prst="rect">
              <a:avLst/>
            </a:prstGeom>
          </p:spPr>
          <p:txBody>
            <a:bodyPr lIns="0" tIns="0" rIns="0" bIns="0" rtlCol="0" anchor="t">
              <a:spAutoFit/>
            </a:bodyPr>
            <a:lstStyle/>
            <a:p>
              <a:pPr marL="0" lvl="0" indent="0" algn="l">
                <a:lnSpc>
                  <a:spcPts val="8800"/>
                </a:lnSpc>
              </a:pPr>
              <a:r>
                <a:rPr lang="en-US" sz="8000" b="1">
                  <a:solidFill>
                    <a:srgbClr val="A8C0F0"/>
                  </a:solidFill>
                  <a:latin typeface="Poppins Bold"/>
                  <a:ea typeface="Poppins Bold"/>
                  <a:cs typeface="Poppins Bold"/>
                  <a:sym typeface="Poppins Bold"/>
                </a:rPr>
                <a:t>Medicine Verification</a:t>
              </a:r>
            </a:p>
          </p:txBody>
        </p:sp>
        <p:sp>
          <p:nvSpPr>
            <p:cNvPr id="6" name="TextBox 6"/>
            <p:cNvSpPr txBox="1"/>
            <p:nvPr/>
          </p:nvSpPr>
          <p:spPr>
            <a:xfrm>
              <a:off x="0" y="3373536"/>
              <a:ext cx="9182100" cy="1308100"/>
            </a:xfrm>
            <a:prstGeom prst="rect">
              <a:avLst/>
            </a:prstGeom>
          </p:spPr>
          <p:txBody>
            <a:bodyPr lIns="0" tIns="0" rIns="0" bIns="0" rtlCol="0" anchor="t">
              <a:spAutoFit/>
            </a:bodyPr>
            <a:lstStyle/>
            <a:p>
              <a:pPr marL="0" lvl="0" indent="0" algn="l">
                <a:lnSpc>
                  <a:spcPts val="3900"/>
                </a:lnSpc>
              </a:pPr>
              <a:r>
                <a:rPr lang="en-US" sz="3000">
                  <a:solidFill>
                    <a:srgbClr val="9FBFEC"/>
                  </a:solidFill>
                  <a:latin typeface="Proxima Nova"/>
                  <a:ea typeface="Proxima Nova"/>
                  <a:cs typeface="Proxima Nova"/>
                  <a:sym typeface="Proxima Nova"/>
                </a:rPr>
                <a:t>Upload images for instant authenticity checks</a:t>
              </a:r>
            </a:p>
          </p:txBody>
        </p:sp>
      </p:grpSp>
      <p:grpSp>
        <p:nvGrpSpPr>
          <p:cNvPr id="7" name="Group 7"/>
          <p:cNvGrpSpPr/>
          <p:nvPr/>
        </p:nvGrpSpPr>
        <p:grpSpPr>
          <a:xfrm>
            <a:off x="10621828" y="3800045"/>
            <a:ext cx="7639050" cy="4617958"/>
            <a:chOff x="0" y="9525"/>
            <a:chExt cx="9182100" cy="6157278"/>
          </a:xfrm>
        </p:grpSpPr>
        <p:sp>
          <p:nvSpPr>
            <p:cNvPr id="8" name="TextBox 8"/>
            <p:cNvSpPr txBox="1"/>
            <p:nvPr/>
          </p:nvSpPr>
          <p:spPr>
            <a:xfrm>
              <a:off x="0" y="9525"/>
              <a:ext cx="9182100" cy="1183401"/>
            </a:xfrm>
            <a:prstGeom prst="rect">
              <a:avLst/>
            </a:prstGeom>
          </p:spPr>
          <p:txBody>
            <a:bodyPr lIns="0" tIns="0" rIns="0" bIns="0" rtlCol="0" anchor="t">
              <a:spAutoFit/>
            </a:bodyPr>
            <a:lstStyle/>
            <a:p>
              <a:pPr marL="0" lvl="0" indent="0" algn="l">
                <a:lnSpc>
                  <a:spcPct val="150000"/>
                </a:lnSpc>
              </a:pPr>
              <a:endParaRPr lang="en-US" sz="4400" b="1" dirty="0">
                <a:solidFill>
                  <a:srgbClr val="9FBFEC"/>
                </a:solidFill>
                <a:latin typeface="Proxima Nova Bold"/>
                <a:ea typeface="Proxima Nova Bold"/>
                <a:cs typeface="Proxima Nova Bold"/>
                <a:sym typeface="Proxima Nova Bold"/>
              </a:endParaRPr>
            </a:p>
          </p:txBody>
        </p:sp>
        <p:sp>
          <p:nvSpPr>
            <p:cNvPr id="9" name="TextBox 9"/>
            <p:cNvSpPr txBox="1"/>
            <p:nvPr/>
          </p:nvSpPr>
          <p:spPr>
            <a:xfrm>
              <a:off x="0" y="920750"/>
              <a:ext cx="9182100" cy="5246053"/>
            </a:xfrm>
            <a:prstGeom prst="rect">
              <a:avLst/>
            </a:prstGeom>
          </p:spPr>
          <p:txBody>
            <a:bodyPr lIns="0" tIns="0" rIns="0" bIns="0" rtlCol="0" anchor="t">
              <a:spAutoFit/>
            </a:bodyPr>
            <a:lstStyle/>
            <a:p>
              <a:pPr marL="0" lvl="0" indent="0" algn="l">
                <a:lnSpc>
                  <a:spcPct val="150000"/>
                </a:lnSpc>
              </a:pPr>
              <a:r>
                <a:rPr lang="en-US" sz="4400" dirty="0">
                  <a:solidFill>
                    <a:srgbClr val="F0F4F8"/>
                  </a:solidFill>
                  <a:latin typeface="Proxima Nova"/>
                  <a:ea typeface="Proxima Nova"/>
                  <a:cs typeface="Proxima Nova"/>
                  <a:sym typeface="Proxima Nova"/>
                </a:rPr>
                <a:t>“With ASURE, verification is as simple as taking a photo—ensuring safety and trust in every purchase.”</a:t>
              </a: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E3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9144000" cy="10287000"/>
            <a:chOff x="0" y="0"/>
            <a:chExt cx="1083733" cy="1219200"/>
          </a:xfrm>
        </p:grpSpPr>
        <p:sp>
          <p:nvSpPr>
            <p:cNvPr id="3" name="Freeform 3"/>
            <p:cNvSpPr/>
            <p:nvPr/>
          </p:nvSpPr>
          <p:spPr>
            <a:xfrm>
              <a:off x="0" y="0"/>
              <a:ext cx="1083733" cy="1219200"/>
            </a:xfrm>
            <a:custGeom>
              <a:avLst/>
              <a:gdLst/>
              <a:ahLst/>
              <a:cxnLst/>
              <a:rect l="l" t="t" r="r" b="b"/>
              <a:pathLst>
                <a:path w="1083733" h="1219200">
                  <a:moveTo>
                    <a:pt x="0" y="0"/>
                  </a:moveTo>
                  <a:lnTo>
                    <a:pt x="1083733" y="0"/>
                  </a:lnTo>
                  <a:lnTo>
                    <a:pt x="1083733" y="1219200"/>
                  </a:lnTo>
                  <a:lnTo>
                    <a:pt x="0" y="1219200"/>
                  </a:lnTo>
                  <a:close/>
                </a:path>
              </a:pathLst>
            </a:custGeom>
            <a:blipFill>
              <a:blip r:embed="rId2"/>
              <a:stretch>
                <a:fillRect t="-219" b="-219"/>
              </a:stretch>
            </a:blipFill>
          </p:spPr>
        </p:sp>
      </p:grpSp>
      <p:grpSp>
        <p:nvGrpSpPr>
          <p:cNvPr id="4" name="Group 4"/>
          <p:cNvGrpSpPr/>
          <p:nvPr/>
        </p:nvGrpSpPr>
        <p:grpSpPr>
          <a:xfrm>
            <a:off x="10532390" y="488313"/>
            <a:ext cx="6886575" cy="5433456"/>
            <a:chOff x="6829587" y="-9525"/>
            <a:chExt cx="9182100" cy="7244608"/>
          </a:xfrm>
        </p:grpSpPr>
        <p:sp>
          <p:nvSpPr>
            <p:cNvPr id="5" name="TextBox 5"/>
            <p:cNvSpPr txBox="1"/>
            <p:nvPr/>
          </p:nvSpPr>
          <p:spPr>
            <a:xfrm>
              <a:off x="6829587" y="-9525"/>
              <a:ext cx="9182100" cy="6025581"/>
            </a:xfrm>
            <a:prstGeom prst="rect">
              <a:avLst/>
            </a:prstGeom>
          </p:spPr>
          <p:txBody>
            <a:bodyPr lIns="0" tIns="0" rIns="0" bIns="0" rtlCol="0" anchor="t">
              <a:spAutoFit/>
            </a:bodyPr>
            <a:lstStyle/>
            <a:p>
              <a:pPr marL="0" lvl="0" indent="0" algn="l">
                <a:lnSpc>
                  <a:spcPts val="8800"/>
                </a:lnSpc>
              </a:pPr>
              <a:r>
                <a:rPr lang="en-US" sz="8000" b="1" dirty="0">
                  <a:solidFill>
                    <a:srgbClr val="A8C0F0"/>
                  </a:solidFill>
                  <a:latin typeface="Poppins Bold"/>
                  <a:ea typeface="Poppins Bold"/>
                  <a:cs typeface="Poppins Bold"/>
                  <a:sym typeface="Poppins Bold"/>
                </a:rPr>
                <a:t>Need Suggestions about Medicine?</a:t>
              </a:r>
            </a:p>
          </p:txBody>
        </p:sp>
        <p:sp>
          <p:nvSpPr>
            <p:cNvPr id="6" name="TextBox 6"/>
            <p:cNvSpPr txBox="1"/>
            <p:nvPr/>
          </p:nvSpPr>
          <p:spPr>
            <a:xfrm>
              <a:off x="6829587" y="5953707"/>
              <a:ext cx="9182100" cy="1281376"/>
            </a:xfrm>
            <a:prstGeom prst="rect">
              <a:avLst/>
            </a:prstGeom>
          </p:spPr>
          <p:txBody>
            <a:bodyPr lIns="0" tIns="0" rIns="0" bIns="0" rtlCol="0" anchor="t">
              <a:spAutoFit/>
            </a:bodyPr>
            <a:lstStyle/>
            <a:p>
              <a:pPr marL="0" lvl="0" indent="0" algn="l">
                <a:lnSpc>
                  <a:spcPts val="3900"/>
                </a:lnSpc>
              </a:pPr>
              <a:r>
                <a:rPr lang="en-US" sz="3000" dirty="0">
                  <a:solidFill>
                    <a:srgbClr val="9FBFEC"/>
                  </a:solidFill>
                  <a:latin typeface="Proxima Nova"/>
                  <a:ea typeface="Proxima Nova"/>
                  <a:cs typeface="Proxima Nova"/>
                  <a:sym typeface="Proxima Nova"/>
                </a:rPr>
                <a:t>Upload images for instant suggestions for medicine</a:t>
              </a:r>
            </a:p>
          </p:txBody>
        </p:sp>
      </p:grpSp>
      <p:grpSp>
        <p:nvGrpSpPr>
          <p:cNvPr id="7" name="Group 7"/>
          <p:cNvGrpSpPr/>
          <p:nvPr/>
        </p:nvGrpSpPr>
        <p:grpSpPr>
          <a:xfrm>
            <a:off x="10515600" y="5007499"/>
            <a:ext cx="7655840" cy="3639414"/>
            <a:chOff x="0" y="9525"/>
            <a:chExt cx="9202281" cy="4852553"/>
          </a:xfrm>
        </p:grpSpPr>
        <p:sp>
          <p:nvSpPr>
            <p:cNvPr id="8" name="TextBox 8"/>
            <p:cNvSpPr txBox="1"/>
            <p:nvPr/>
          </p:nvSpPr>
          <p:spPr>
            <a:xfrm>
              <a:off x="0" y="9525"/>
              <a:ext cx="9182100" cy="1183401"/>
            </a:xfrm>
            <a:prstGeom prst="rect">
              <a:avLst/>
            </a:prstGeom>
          </p:spPr>
          <p:txBody>
            <a:bodyPr lIns="0" tIns="0" rIns="0" bIns="0" rtlCol="0" anchor="t">
              <a:spAutoFit/>
            </a:bodyPr>
            <a:lstStyle/>
            <a:p>
              <a:pPr marL="0" lvl="0" indent="0" algn="l">
                <a:lnSpc>
                  <a:spcPct val="150000"/>
                </a:lnSpc>
              </a:pPr>
              <a:endParaRPr lang="en-US" sz="4400" b="1" dirty="0">
                <a:solidFill>
                  <a:srgbClr val="9FBFEC"/>
                </a:solidFill>
                <a:latin typeface="Proxima Nova Bold"/>
                <a:ea typeface="Proxima Nova Bold"/>
                <a:cs typeface="Proxima Nova Bold"/>
                <a:sym typeface="Proxima Nova Bold"/>
              </a:endParaRPr>
            </a:p>
          </p:txBody>
        </p:sp>
        <p:sp>
          <p:nvSpPr>
            <p:cNvPr id="9" name="TextBox 9"/>
            <p:cNvSpPr txBox="1"/>
            <p:nvPr/>
          </p:nvSpPr>
          <p:spPr>
            <a:xfrm>
              <a:off x="20181" y="2324460"/>
              <a:ext cx="9182100" cy="2537618"/>
            </a:xfrm>
            <a:prstGeom prst="rect">
              <a:avLst/>
            </a:prstGeom>
          </p:spPr>
          <p:txBody>
            <a:bodyPr lIns="0" tIns="0" rIns="0" bIns="0" rtlCol="0" anchor="t">
              <a:spAutoFit/>
            </a:bodyPr>
            <a:lstStyle/>
            <a:p>
              <a:pPr marL="0" lvl="0" indent="0" algn="l">
                <a:lnSpc>
                  <a:spcPct val="150000"/>
                </a:lnSpc>
              </a:pPr>
              <a:r>
                <a:rPr lang="en-US" sz="4400" dirty="0">
                  <a:solidFill>
                    <a:srgbClr val="F0F4F8"/>
                  </a:solidFill>
                  <a:latin typeface="Proxima Nova"/>
                  <a:ea typeface="Proxima Nova"/>
                  <a:cs typeface="Proxima Nova"/>
                  <a:sym typeface="Proxima Nova"/>
                </a:rPr>
                <a:t>“With ASURE, get Ai suggestions for the patient.”</a:t>
              </a:r>
            </a:p>
          </p:txBody>
        </p:sp>
      </p:grpSp>
    </p:spTree>
    <p:extLst>
      <p:ext uri="{BB962C8B-B14F-4D97-AF65-F5344CB8AC3E}">
        <p14:creationId xmlns:p14="http://schemas.microsoft.com/office/powerpoint/2010/main" val="264473638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91F3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9144000" cy="10283408"/>
            <a:chOff x="0" y="0"/>
            <a:chExt cx="1534063" cy="1725218"/>
          </a:xfrm>
        </p:grpSpPr>
        <p:sp>
          <p:nvSpPr>
            <p:cNvPr id="3" name="Freeform 3"/>
            <p:cNvSpPr/>
            <p:nvPr/>
          </p:nvSpPr>
          <p:spPr>
            <a:xfrm>
              <a:off x="0" y="0"/>
              <a:ext cx="1534063" cy="1725219"/>
            </a:xfrm>
            <a:custGeom>
              <a:avLst/>
              <a:gdLst/>
              <a:ahLst/>
              <a:cxnLst/>
              <a:rect l="l" t="t" r="r" b="b"/>
              <a:pathLst>
                <a:path w="1534063" h="1725219">
                  <a:moveTo>
                    <a:pt x="0" y="0"/>
                  </a:moveTo>
                  <a:lnTo>
                    <a:pt x="1534063" y="0"/>
                  </a:lnTo>
                  <a:lnTo>
                    <a:pt x="1534063" y="1725219"/>
                  </a:lnTo>
                  <a:lnTo>
                    <a:pt x="0" y="1725219"/>
                  </a:lnTo>
                  <a:close/>
                </a:path>
              </a:pathLst>
            </a:custGeom>
            <a:blipFill>
              <a:blip r:embed="rId2"/>
              <a:stretch>
                <a:fillRect t="-237" b="-237"/>
              </a:stretch>
            </a:blipFill>
          </p:spPr>
        </p:sp>
      </p:grpSp>
      <p:grpSp>
        <p:nvGrpSpPr>
          <p:cNvPr id="4" name="Group 4"/>
          <p:cNvGrpSpPr/>
          <p:nvPr/>
        </p:nvGrpSpPr>
        <p:grpSpPr>
          <a:xfrm>
            <a:off x="10734675" y="666750"/>
            <a:ext cx="6886575" cy="7725489"/>
            <a:chOff x="0" y="0"/>
            <a:chExt cx="9182100" cy="10300650"/>
          </a:xfrm>
        </p:grpSpPr>
        <p:sp>
          <p:nvSpPr>
            <p:cNvPr id="5" name="TextBox 5"/>
            <p:cNvSpPr txBox="1"/>
            <p:nvPr/>
          </p:nvSpPr>
          <p:spPr>
            <a:xfrm>
              <a:off x="0" y="5054599"/>
              <a:ext cx="9182100" cy="5246051"/>
            </a:xfrm>
            <a:prstGeom prst="rect">
              <a:avLst/>
            </a:prstGeom>
          </p:spPr>
          <p:txBody>
            <a:bodyPr lIns="0" tIns="0" rIns="0" bIns="0" rtlCol="0" anchor="t">
              <a:spAutoFit/>
            </a:bodyPr>
            <a:lstStyle/>
            <a:p>
              <a:pPr marL="0" lvl="0" indent="0" algn="l">
                <a:lnSpc>
                  <a:spcPct val="150000"/>
                </a:lnSpc>
              </a:pPr>
              <a:r>
                <a:rPr lang="en-US" sz="4400" dirty="0">
                  <a:solidFill>
                    <a:srgbClr val="F0F4F8"/>
                  </a:solidFill>
                  <a:latin typeface="Proxima Nova"/>
                  <a:ea typeface="Proxima Nova"/>
                  <a:cs typeface="Proxima Nova"/>
                  <a:sym typeface="Proxima Nova"/>
                </a:rPr>
                <a:t>Efficiently scan and extract information with ASURE technology and provide a rating out of 100</a:t>
              </a:r>
            </a:p>
          </p:txBody>
        </p:sp>
        <p:sp>
          <p:nvSpPr>
            <p:cNvPr id="6" name="TextBox 6"/>
            <p:cNvSpPr txBox="1"/>
            <p:nvPr/>
          </p:nvSpPr>
          <p:spPr>
            <a:xfrm>
              <a:off x="0" y="0"/>
              <a:ext cx="9182100" cy="4157133"/>
            </a:xfrm>
            <a:prstGeom prst="rect">
              <a:avLst/>
            </a:prstGeom>
          </p:spPr>
          <p:txBody>
            <a:bodyPr lIns="0" tIns="0" rIns="0" bIns="0" rtlCol="0" anchor="t">
              <a:spAutoFit/>
            </a:bodyPr>
            <a:lstStyle/>
            <a:p>
              <a:pPr marL="0" lvl="0" indent="0" algn="l">
                <a:lnSpc>
                  <a:spcPts val="6049"/>
                </a:lnSpc>
              </a:pPr>
              <a:r>
                <a:rPr lang="en-US" sz="5499" b="1">
                  <a:solidFill>
                    <a:srgbClr val="9FBFEC"/>
                  </a:solidFill>
                  <a:latin typeface="Poppins Bold"/>
                  <a:ea typeface="Poppins Bold"/>
                  <a:cs typeface="Poppins Bold"/>
                  <a:sym typeface="Poppins Bold"/>
                </a:rPr>
                <a:t>Streamlined Certificate Verification for Instant Results</a:t>
              </a: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1F38"/>
        </a:solidFill>
        <a:effectLst/>
      </p:bgPr>
    </p:bg>
    <p:spTree>
      <p:nvGrpSpPr>
        <p:cNvPr id="1" name=""/>
        <p:cNvGrpSpPr/>
        <p:nvPr/>
      </p:nvGrpSpPr>
      <p:grpSpPr>
        <a:xfrm>
          <a:off x="0" y="0"/>
          <a:ext cx="0" cy="0"/>
          <a:chOff x="0" y="0"/>
          <a:chExt cx="0" cy="0"/>
        </a:xfrm>
      </p:grpSpPr>
      <p:grpSp>
        <p:nvGrpSpPr>
          <p:cNvPr id="4" name="Group 4"/>
          <p:cNvGrpSpPr/>
          <p:nvPr/>
        </p:nvGrpSpPr>
        <p:grpSpPr>
          <a:xfrm>
            <a:off x="10697221" y="666750"/>
            <a:ext cx="6924029" cy="8090893"/>
            <a:chOff x="-49939" y="0"/>
            <a:chExt cx="9232039" cy="10787858"/>
          </a:xfrm>
        </p:grpSpPr>
        <p:sp>
          <p:nvSpPr>
            <p:cNvPr id="5" name="TextBox 5"/>
            <p:cNvSpPr txBox="1"/>
            <p:nvPr/>
          </p:nvSpPr>
          <p:spPr>
            <a:xfrm>
              <a:off x="0" y="0"/>
              <a:ext cx="9182100" cy="5416868"/>
            </a:xfrm>
            <a:prstGeom prst="rect">
              <a:avLst/>
            </a:prstGeom>
          </p:spPr>
          <p:txBody>
            <a:bodyPr lIns="0" tIns="0" rIns="0" bIns="0" rtlCol="0" anchor="t">
              <a:spAutoFit/>
            </a:bodyPr>
            <a:lstStyle/>
            <a:p>
              <a:pPr marL="0" lvl="0" indent="0" algn="l">
                <a:spcBef>
                  <a:spcPct val="0"/>
                </a:spcBef>
              </a:pPr>
              <a:r>
                <a:rPr lang="en-US" sz="8800" b="1" u="none" strike="noStrike" dirty="0">
                  <a:solidFill>
                    <a:srgbClr val="9FBFEC"/>
                  </a:solidFill>
                  <a:latin typeface="Poppins Bold"/>
                  <a:ea typeface="Poppins Bold"/>
                  <a:cs typeface="Poppins Bold"/>
                  <a:sym typeface="Poppins Bold"/>
                </a:rPr>
                <a:t>Want to be sure before purchase?</a:t>
              </a:r>
            </a:p>
          </p:txBody>
        </p:sp>
        <p:sp>
          <p:nvSpPr>
            <p:cNvPr id="6" name="TextBox 6"/>
            <p:cNvSpPr txBox="1"/>
            <p:nvPr/>
          </p:nvSpPr>
          <p:spPr>
            <a:xfrm>
              <a:off x="-49939" y="6273800"/>
              <a:ext cx="9182100" cy="4514058"/>
            </a:xfrm>
            <a:prstGeom prst="rect">
              <a:avLst/>
            </a:prstGeom>
          </p:spPr>
          <p:txBody>
            <a:bodyPr lIns="0" tIns="0" rIns="0" bIns="0" rtlCol="0" anchor="t">
              <a:spAutoFit/>
            </a:bodyPr>
            <a:lstStyle/>
            <a:p>
              <a:pPr marL="0" lvl="0" indent="0" algn="l">
                <a:spcBef>
                  <a:spcPct val="0"/>
                </a:spcBef>
              </a:pPr>
              <a:r>
                <a:rPr lang="en-US" sz="4400" dirty="0">
                  <a:solidFill>
                    <a:srgbClr val="F0F4F8"/>
                  </a:solidFill>
                  <a:latin typeface="Proxima Nova"/>
                  <a:ea typeface="Proxima Nova"/>
                  <a:cs typeface="Proxima Nova"/>
                  <a:sym typeface="Proxima Nova"/>
                </a:rPr>
                <a:t>ASURE provide you all the details of your product you must have to see before any purchase and provide a rating .</a:t>
              </a:r>
            </a:p>
          </p:txBody>
        </p:sp>
      </p:grpSp>
      <p:pic>
        <p:nvPicPr>
          <p:cNvPr id="8" name="Picture 7">
            <a:extLst>
              <a:ext uri="{FF2B5EF4-FFF2-40B4-BE49-F238E27FC236}">
                <a16:creationId xmlns:a16="http://schemas.microsoft.com/office/drawing/2014/main" id="{8D2E3A7F-14A3-4B4A-BBE6-0B435C747AF2}"/>
              </a:ext>
            </a:extLst>
          </p:cNvPr>
          <p:cNvPicPr>
            <a:picLocks noChangeAspect="1"/>
          </p:cNvPicPr>
          <p:nvPr/>
        </p:nvPicPr>
        <p:blipFill rotWithShape="1">
          <a:blip r:embed="rId2">
            <a:extLst>
              <a:ext uri="{28A0092B-C50C-407E-A947-70E740481C1C}">
                <a14:useLocalDpi xmlns:a14="http://schemas.microsoft.com/office/drawing/2010/main" val="0"/>
              </a:ext>
            </a:extLst>
          </a:blip>
          <a:srcRect r="75433"/>
          <a:stretch/>
        </p:blipFill>
        <p:spPr>
          <a:xfrm>
            <a:off x="3875" y="-9686"/>
            <a:ext cx="4491925" cy="10296686"/>
          </a:xfrm>
          <a:prstGeom prst="rect">
            <a:avLst/>
          </a:prstGeom>
        </p:spPr>
      </p:pic>
      <p:pic>
        <p:nvPicPr>
          <p:cNvPr id="9" name="Picture 8">
            <a:extLst>
              <a:ext uri="{FF2B5EF4-FFF2-40B4-BE49-F238E27FC236}">
                <a16:creationId xmlns:a16="http://schemas.microsoft.com/office/drawing/2014/main" id="{ED91E5B7-0F40-4DD1-931A-D418CF516660}"/>
              </a:ext>
            </a:extLst>
          </p:cNvPr>
          <p:cNvPicPr>
            <a:picLocks noChangeAspect="1"/>
          </p:cNvPicPr>
          <p:nvPr/>
        </p:nvPicPr>
        <p:blipFill rotWithShape="1">
          <a:blip r:embed="rId2">
            <a:extLst>
              <a:ext uri="{28A0092B-C50C-407E-A947-70E740481C1C}">
                <a14:useLocalDpi xmlns:a14="http://schemas.microsoft.com/office/drawing/2010/main" val="0"/>
              </a:ext>
            </a:extLst>
          </a:blip>
          <a:srcRect l="74161"/>
          <a:stretch/>
        </p:blipFill>
        <p:spPr>
          <a:xfrm>
            <a:off x="4482885" y="-21468"/>
            <a:ext cx="4724400" cy="10296686"/>
          </a:xfrm>
          <a:prstGeom prst="rect">
            <a:avLst/>
          </a:prstGeom>
        </p:spPr>
      </p:pic>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F38"/>
        </a:solidFill>
        <a:effectLst/>
      </p:bgPr>
    </p:bg>
    <p:spTree>
      <p:nvGrpSpPr>
        <p:cNvPr id="1" name=""/>
        <p:cNvGrpSpPr/>
        <p:nvPr/>
      </p:nvGrpSpPr>
      <p:grpSpPr>
        <a:xfrm>
          <a:off x="0" y="0"/>
          <a:ext cx="0" cy="0"/>
          <a:chOff x="0" y="0"/>
          <a:chExt cx="0" cy="0"/>
        </a:xfrm>
      </p:grpSpPr>
      <p:grpSp>
        <p:nvGrpSpPr>
          <p:cNvPr id="4" name="Group 4"/>
          <p:cNvGrpSpPr/>
          <p:nvPr/>
        </p:nvGrpSpPr>
        <p:grpSpPr>
          <a:xfrm>
            <a:off x="10734674" y="666750"/>
            <a:ext cx="6886576" cy="7870983"/>
            <a:chOff x="-2" y="0"/>
            <a:chExt cx="9182102" cy="10494645"/>
          </a:xfrm>
        </p:grpSpPr>
        <p:sp>
          <p:nvSpPr>
            <p:cNvPr id="5" name="TextBox 5"/>
            <p:cNvSpPr txBox="1"/>
            <p:nvPr/>
          </p:nvSpPr>
          <p:spPr>
            <a:xfrm>
              <a:off x="0" y="0"/>
              <a:ext cx="9182100" cy="6155531"/>
            </a:xfrm>
            <a:prstGeom prst="rect">
              <a:avLst/>
            </a:prstGeom>
          </p:spPr>
          <p:txBody>
            <a:bodyPr lIns="0" tIns="0" rIns="0" bIns="0" rtlCol="0" anchor="t">
              <a:spAutoFit/>
            </a:bodyPr>
            <a:lstStyle/>
            <a:p>
              <a:pPr marL="0" lvl="0" indent="0" algn="l">
                <a:spcBef>
                  <a:spcPct val="0"/>
                </a:spcBef>
              </a:pPr>
              <a:r>
                <a:rPr lang="en-US" sz="6000" b="1" u="none" strike="noStrike" dirty="0">
                  <a:solidFill>
                    <a:srgbClr val="9FBFEC"/>
                  </a:solidFill>
                  <a:latin typeface="Poppins Bold"/>
                  <a:ea typeface="Poppins Bold"/>
                  <a:cs typeface="Poppins Bold"/>
                  <a:sym typeface="Poppins Bold"/>
                </a:rPr>
                <a:t>Want to see available similar product and their price before purchase?</a:t>
              </a:r>
            </a:p>
          </p:txBody>
        </p:sp>
        <p:sp>
          <p:nvSpPr>
            <p:cNvPr id="6" name="TextBox 6"/>
            <p:cNvSpPr txBox="1"/>
            <p:nvPr/>
          </p:nvSpPr>
          <p:spPr>
            <a:xfrm>
              <a:off x="-2" y="6883399"/>
              <a:ext cx="9182101" cy="3611246"/>
            </a:xfrm>
            <a:prstGeom prst="rect">
              <a:avLst/>
            </a:prstGeom>
          </p:spPr>
          <p:txBody>
            <a:bodyPr lIns="0" tIns="0" rIns="0" bIns="0" rtlCol="0" anchor="t">
              <a:spAutoFit/>
            </a:bodyPr>
            <a:lstStyle/>
            <a:p>
              <a:pPr marL="0" lvl="0" indent="0" algn="l">
                <a:spcBef>
                  <a:spcPct val="0"/>
                </a:spcBef>
              </a:pPr>
              <a:r>
                <a:rPr lang="en-US" sz="4400" dirty="0">
                  <a:solidFill>
                    <a:srgbClr val="F0F4F8"/>
                  </a:solidFill>
                  <a:latin typeface="Proxima Nova"/>
                  <a:ea typeface="Proxima Nova"/>
                  <a:cs typeface="Proxima Nova"/>
                  <a:sym typeface="Proxima Nova"/>
                </a:rPr>
                <a:t>ASURE give you the information  Where you can find the best and cheapest product.</a:t>
              </a:r>
            </a:p>
          </p:txBody>
        </p:sp>
      </p:grpSp>
      <p:pic>
        <p:nvPicPr>
          <p:cNvPr id="7" name="Picture 6">
            <a:extLst>
              <a:ext uri="{FF2B5EF4-FFF2-40B4-BE49-F238E27FC236}">
                <a16:creationId xmlns:a16="http://schemas.microsoft.com/office/drawing/2014/main" id="{8B7ECCE0-EAE5-4ED0-A8C8-8FFFD38B98BD}"/>
              </a:ext>
            </a:extLst>
          </p:cNvPr>
          <p:cNvPicPr>
            <a:picLocks noChangeAspect="1"/>
          </p:cNvPicPr>
          <p:nvPr/>
        </p:nvPicPr>
        <p:blipFill rotWithShape="1">
          <a:blip r:embed="rId2">
            <a:extLst>
              <a:ext uri="{28A0092B-C50C-407E-A947-70E740481C1C}">
                <a14:useLocalDpi xmlns:a14="http://schemas.microsoft.com/office/drawing/2010/main" val="0"/>
              </a:ext>
            </a:extLst>
          </a:blip>
          <a:srcRect r="75433"/>
          <a:stretch/>
        </p:blipFill>
        <p:spPr>
          <a:xfrm>
            <a:off x="3875" y="-9686"/>
            <a:ext cx="4491925" cy="10296686"/>
          </a:xfrm>
          <a:prstGeom prst="rect">
            <a:avLst/>
          </a:prstGeom>
        </p:spPr>
      </p:pic>
      <p:pic>
        <p:nvPicPr>
          <p:cNvPr id="8" name="Picture 7">
            <a:extLst>
              <a:ext uri="{FF2B5EF4-FFF2-40B4-BE49-F238E27FC236}">
                <a16:creationId xmlns:a16="http://schemas.microsoft.com/office/drawing/2014/main" id="{352B07BF-AD3B-457F-9C6E-B4BD0569BB1E}"/>
              </a:ext>
            </a:extLst>
          </p:cNvPr>
          <p:cNvPicPr>
            <a:picLocks noChangeAspect="1"/>
          </p:cNvPicPr>
          <p:nvPr/>
        </p:nvPicPr>
        <p:blipFill rotWithShape="1">
          <a:blip r:embed="rId2">
            <a:extLst>
              <a:ext uri="{28A0092B-C50C-407E-A947-70E740481C1C}">
                <a14:useLocalDpi xmlns:a14="http://schemas.microsoft.com/office/drawing/2010/main" val="0"/>
              </a:ext>
            </a:extLst>
          </a:blip>
          <a:srcRect l="74161"/>
          <a:stretch/>
        </p:blipFill>
        <p:spPr>
          <a:xfrm>
            <a:off x="4482885" y="-21468"/>
            <a:ext cx="4724400" cy="10296686"/>
          </a:xfrm>
          <a:prstGeom prst="rect">
            <a:avLst/>
          </a:prstGeom>
        </p:spPr>
      </p:pic>
    </p:spTree>
    <p:extLst>
      <p:ext uri="{BB962C8B-B14F-4D97-AF65-F5344CB8AC3E}">
        <p14:creationId xmlns:p14="http://schemas.microsoft.com/office/powerpoint/2010/main" val="171613920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91F3A"/>
        </a:solidFill>
        <a:effectLst/>
      </p:bgPr>
    </p:bg>
    <p:spTree>
      <p:nvGrpSpPr>
        <p:cNvPr id="1" name=""/>
        <p:cNvGrpSpPr/>
        <p:nvPr/>
      </p:nvGrpSpPr>
      <p:grpSpPr>
        <a:xfrm>
          <a:off x="0" y="0"/>
          <a:ext cx="0" cy="0"/>
          <a:chOff x="0" y="0"/>
          <a:chExt cx="0" cy="0"/>
        </a:xfrm>
      </p:grpSpPr>
      <p:grpSp>
        <p:nvGrpSpPr>
          <p:cNvPr id="2" name="Group 2"/>
          <p:cNvGrpSpPr/>
          <p:nvPr/>
        </p:nvGrpSpPr>
        <p:grpSpPr>
          <a:xfrm>
            <a:off x="9296400" y="666750"/>
            <a:ext cx="4010025" cy="5372100"/>
            <a:chOff x="0" y="0"/>
            <a:chExt cx="890924" cy="1193542"/>
          </a:xfrm>
        </p:grpSpPr>
        <p:sp>
          <p:nvSpPr>
            <p:cNvPr id="3" name="Freeform 3"/>
            <p:cNvSpPr/>
            <p:nvPr/>
          </p:nvSpPr>
          <p:spPr>
            <a:xfrm>
              <a:off x="0" y="0"/>
              <a:ext cx="890924" cy="1193542"/>
            </a:xfrm>
            <a:custGeom>
              <a:avLst/>
              <a:gdLst/>
              <a:ahLst/>
              <a:cxnLst/>
              <a:rect l="l" t="t" r="r" b="b"/>
              <a:pathLst>
                <a:path w="890924" h="1193542">
                  <a:moveTo>
                    <a:pt x="0" y="0"/>
                  </a:moveTo>
                  <a:lnTo>
                    <a:pt x="890924" y="0"/>
                  </a:lnTo>
                  <a:lnTo>
                    <a:pt x="890924" y="1193542"/>
                  </a:lnTo>
                  <a:lnTo>
                    <a:pt x="0" y="1193542"/>
                  </a:lnTo>
                  <a:close/>
                </a:path>
              </a:pathLst>
            </a:custGeom>
            <a:blipFill>
              <a:blip r:embed="rId2"/>
              <a:stretch>
                <a:fillRect t="-266" b="-266"/>
              </a:stretch>
            </a:blipFill>
          </p:spPr>
        </p:sp>
      </p:grpSp>
      <p:grpSp>
        <p:nvGrpSpPr>
          <p:cNvPr id="4" name="Group 4"/>
          <p:cNvGrpSpPr/>
          <p:nvPr/>
        </p:nvGrpSpPr>
        <p:grpSpPr>
          <a:xfrm>
            <a:off x="13611225" y="666750"/>
            <a:ext cx="4010025" cy="5372100"/>
            <a:chOff x="0" y="0"/>
            <a:chExt cx="475262" cy="636693"/>
          </a:xfrm>
        </p:grpSpPr>
        <p:sp>
          <p:nvSpPr>
            <p:cNvPr id="5" name="Freeform 5"/>
            <p:cNvSpPr/>
            <p:nvPr/>
          </p:nvSpPr>
          <p:spPr>
            <a:xfrm>
              <a:off x="0" y="0"/>
              <a:ext cx="475262" cy="636693"/>
            </a:xfrm>
            <a:custGeom>
              <a:avLst/>
              <a:gdLst/>
              <a:ahLst/>
              <a:cxnLst/>
              <a:rect l="l" t="t" r="r" b="b"/>
              <a:pathLst>
                <a:path w="475262" h="636693">
                  <a:moveTo>
                    <a:pt x="0" y="0"/>
                  </a:moveTo>
                  <a:lnTo>
                    <a:pt x="475262" y="0"/>
                  </a:lnTo>
                  <a:lnTo>
                    <a:pt x="475262" y="636693"/>
                  </a:lnTo>
                  <a:lnTo>
                    <a:pt x="0" y="636693"/>
                  </a:lnTo>
                  <a:close/>
                </a:path>
              </a:pathLst>
            </a:custGeom>
            <a:blipFill>
              <a:blip r:embed="rId3"/>
              <a:stretch>
                <a:fillRect t="-266" b="-266"/>
              </a:stretch>
            </a:blipFill>
          </p:spPr>
        </p:sp>
      </p:grpSp>
      <p:sp>
        <p:nvSpPr>
          <p:cNvPr id="6" name="TextBox 6"/>
          <p:cNvSpPr txBox="1"/>
          <p:nvPr/>
        </p:nvSpPr>
        <p:spPr>
          <a:xfrm>
            <a:off x="666750" y="3543300"/>
            <a:ext cx="6886575" cy="2262158"/>
          </a:xfrm>
          <a:prstGeom prst="rect">
            <a:avLst/>
          </a:prstGeom>
        </p:spPr>
        <p:txBody>
          <a:bodyPr wrap="square" lIns="0" tIns="0" rIns="0" bIns="0" rtlCol="0" anchor="t">
            <a:spAutoFit/>
          </a:bodyPr>
          <a:lstStyle/>
          <a:p>
            <a:pPr marL="0" lvl="0" indent="0" algn="l">
              <a:lnSpc>
                <a:spcPts val="8800"/>
              </a:lnSpc>
            </a:pPr>
            <a:r>
              <a:rPr lang="en-US" sz="8000" b="1" dirty="0">
                <a:solidFill>
                  <a:srgbClr val="A8C0F0"/>
                </a:solidFill>
                <a:latin typeface="Poppins Bold"/>
                <a:ea typeface="Poppins Bold"/>
                <a:cs typeface="Poppins Bold"/>
                <a:sym typeface="Poppins Bold"/>
              </a:rPr>
              <a:t>Security Features</a:t>
            </a:r>
          </a:p>
        </p:txBody>
      </p:sp>
      <p:grpSp>
        <p:nvGrpSpPr>
          <p:cNvPr id="7" name="Group 7"/>
          <p:cNvGrpSpPr/>
          <p:nvPr/>
        </p:nvGrpSpPr>
        <p:grpSpPr>
          <a:xfrm>
            <a:off x="13611225" y="6927056"/>
            <a:ext cx="4010025" cy="2645021"/>
            <a:chOff x="0" y="-9525"/>
            <a:chExt cx="5346700" cy="3526693"/>
          </a:xfrm>
        </p:grpSpPr>
        <p:sp>
          <p:nvSpPr>
            <p:cNvPr id="8" name="TextBox 8"/>
            <p:cNvSpPr txBox="1"/>
            <p:nvPr/>
          </p:nvSpPr>
          <p:spPr>
            <a:xfrm>
              <a:off x="0" y="-9525"/>
              <a:ext cx="5346700" cy="902810"/>
            </a:xfrm>
            <a:prstGeom prst="rect">
              <a:avLst/>
            </a:prstGeom>
          </p:spPr>
          <p:txBody>
            <a:bodyPr lIns="0" tIns="0" rIns="0" bIns="0" rtlCol="0" anchor="t">
              <a:spAutoFit/>
            </a:bodyPr>
            <a:lstStyle/>
            <a:p>
              <a:pPr marL="0" lvl="0" indent="0" algn="l">
                <a:spcBef>
                  <a:spcPct val="0"/>
                </a:spcBef>
              </a:pPr>
              <a:r>
                <a:rPr lang="en-US" sz="4400" b="1" u="none" strike="noStrike">
                  <a:solidFill>
                    <a:srgbClr val="9FBFEC"/>
                  </a:solidFill>
                  <a:latin typeface="Proxima Nova Bold"/>
                  <a:ea typeface="Proxima Nova Bold"/>
                  <a:cs typeface="Proxima Nova Bold"/>
                  <a:sym typeface="Proxima Nova Bold"/>
                </a:rPr>
                <a:t>Secure Login</a:t>
              </a:r>
            </a:p>
          </p:txBody>
        </p:sp>
        <p:sp>
          <p:nvSpPr>
            <p:cNvPr id="9" name="TextBox 9"/>
            <p:cNvSpPr txBox="1"/>
            <p:nvPr/>
          </p:nvSpPr>
          <p:spPr>
            <a:xfrm>
              <a:off x="0" y="808736"/>
              <a:ext cx="5346700" cy="2708432"/>
            </a:xfrm>
            <a:prstGeom prst="rect">
              <a:avLst/>
            </a:prstGeom>
          </p:spPr>
          <p:txBody>
            <a:bodyPr lIns="0" tIns="0" rIns="0" bIns="0" rtlCol="0" anchor="t">
              <a:spAutoFit/>
            </a:bodyPr>
            <a:lstStyle/>
            <a:p>
              <a:pPr marL="0" lvl="0" indent="0" algn="l">
                <a:spcBef>
                  <a:spcPct val="0"/>
                </a:spcBef>
              </a:pPr>
              <a:r>
                <a:rPr lang="en-US" sz="4400" dirty="0">
                  <a:solidFill>
                    <a:srgbClr val="F0F4F8"/>
                  </a:solidFill>
                  <a:latin typeface="Proxima Nova"/>
                  <a:ea typeface="Proxima Nova"/>
                  <a:cs typeface="Proxima Nova"/>
                  <a:sym typeface="Proxima Nova"/>
                </a:rPr>
                <a:t>Ensuring only authorized access</a:t>
              </a:r>
            </a:p>
          </p:txBody>
        </p:sp>
      </p:grpSp>
      <p:grpSp>
        <p:nvGrpSpPr>
          <p:cNvPr id="10" name="Group 10"/>
          <p:cNvGrpSpPr/>
          <p:nvPr/>
        </p:nvGrpSpPr>
        <p:grpSpPr>
          <a:xfrm>
            <a:off x="9296400" y="6927056"/>
            <a:ext cx="4010025" cy="2645021"/>
            <a:chOff x="0" y="-9525"/>
            <a:chExt cx="5346700" cy="3526693"/>
          </a:xfrm>
        </p:grpSpPr>
        <p:sp>
          <p:nvSpPr>
            <p:cNvPr id="11" name="TextBox 11"/>
            <p:cNvSpPr txBox="1"/>
            <p:nvPr/>
          </p:nvSpPr>
          <p:spPr>
            <a:xfrm>
              <a:off x="0" y="-9525"/>
              <a:ext cx="5346700" cy="902810"/>
            </a:xfrm>
            <a:prstGeom prst="rect">
              <a:avLst/>
            </a:prstGeom>
          </p:spPr>
          <p:txBody>
            <a:bodyPr lIns="0" tIns="0" rIns="0" bIns="0" rtlCol="0" anchor="t">
              <a:spAutoFit/>
            </a:bodyPr>
            <a:lstStyle/>
            <a:p>
              <a:pPr marL="0" lvl="0" indent="0" algn="l">
                <a:spcBef>
                  <a:spcPct val="0"/>
                </a:spcBef>
              </a:pPr>
              <a:r>
                <a:rPr lang="en-US" sz="4400" b="1" u="none" strike="noStrike">
                  <a:solidFill>
                    <a:srgbClr val="9FBFEC"/>
                  </a:solidFill>
                  <a:latin typeface="Proxima Nova Bold"/>
                  <a:ea typeface="Proxima Nova Bold"/>
                  <a:cs typeface="Proxima Nova Bold"/>
                  <a:sym typeface="Proxima Nova Bold"/>
                </a:rPr>
                <a:t>Lock Icon</a:t>
              </a:r>
            </a:p>
          </p:txBody>
        </p:sp>
        <p:sp>
          <p:nvSpPr>
            <p:cNvPr id="12" name="TextBox 12"/>
            <p:cNvSpPr txBox="1"/>
            <p:nvPr/>
          </p:nvSpPr>
          <p:spPr>
            <a:xfrm>
              <a:off x="0" y="808736"/>
              <a:ext cx="5346700" cy="2708432"/>
            </a:xfrm>
            <a:prstGeom prst="rect">
              <a:avLst/>
            </a:prstGeom>
          </p:spPr>
          <p:txBody>
            <a:bodyPr lIns="0" tIns="0" rIns="0" bIns="0" rtlCol="0" anchor="t">
              <a:spAutoFit/>
            </a:bodyPr>
            <a:lstStyle/>
            <a:p>
              <a:pPr marL="0" lvl="0" indent="0" algn="l">
                <a:spcBef>
                  <a:spcPct val="0"/>
                </a:spcBef>
              </a:pPr>
              <a:r>
                <a:rPr lang="en-US" sz="4400" dirty="0">
                  <a:solidFill>
                    <a:srgbClr val="F0F4F8"/>
                  </a:solidFill>
                  <a:latin typeface="Proxima Nova"/>
                  <a:ea typeface="Proxima Nova"/>
                  <a:cs typeface="Proxima Nova"/>
                  <a:sym typeface="Proxima Nova"/>
                </a:rPr>
                <a:t>Symbolizing strong data protection</a:t>
              </a:r>
            </a:p>
          </p:txBody>
        </p:sp>
      </p:gr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F38"/>
        </a:solidFill>
        <a:effectLst/>
      </p:bgPr>
    </p:bg>
    <p:spTree>
      <p:nvGrpSpPr>
        <p:cNvPr id="1" name=""/>
        <p:cNvGrpSpPr/>
        <p:nvPr/>
      </p:nvGrpSpPr>
      <p:grpSpPr>
        <a:xfrm>
          <a:off x="0" y="0"/>
          <a:ext cx="0" cy="0"/>
          <a:chOff x="0" y="0"/>
          <a:chExt cx="0" cy="0"/>
        </a:xfrm>
      </p:grpSpPr>
      <p:grpSp>
        <p:nvGrpSpPr>
          <p:cNvPr id="2" name="Group 2"/>
          <p:cNvGrpSpPr/>
          <p:nvPr/>
        </p:nvGrpSpPr>
        <p:grpSpPr>
          <a:xfrm>
            <a:off x="666750" y="716756"/>
            <a:ext cx="6886575" cy="7347242"/>
            <a:chOff x="0" y="66675"/>
            <a:chExt cx="9182100" cy="9796321"/>
          </a:xfrm>
        </p:grpSpPr>
        <p:sp>
          <p:nvSpPr>
            <p:cNvPr id="3" name="TextBox 3"/>
            <p:cNvSpPr txBox="1"/>
            <p:nvPr/>
          </p:nvSpPr>
          <p:spPr>
            <a:xfrm>
              <a:off x="0" y="2378057"/>
              <a:ext cx="9182100" cy="629403"/>
            </a:xfrm>
            <a:prstGeom prst="rect">
              <a:avLst/>
            </a:prstGeom>
          </p:spPr>
          <p:txBody>
            <a:bodyPr lIns="0" tIns="0" rIns="0" bIns="0" rtlCol="0" anchor="t">
              <a:spAutoFit/>
            </a:bodyPr>
            <a:lstStyle/>
            <a:p>
              <a:pPr marL="0" lvl="0" indent="0" algn="just">
                <a:lnSpc>
                  <a:spcPts val="3600"/>
                </a:lnSpc>
                <a:spcBef>
                  <a:spcPct val="0"/>
                </a:spcBef>
              </a:pPr>
              <a:r>
                <a:rPr lang="en-US" sz="4400" b="1" u="none" dirty="0">
                  <a:solidFill>
                    <a:srgbClr val="9FBFEC"/>
                  </a:solidFill>
                  <a:latin typeface="Proxima Nova Bold"/>
                  <a:ea typeface="Proxima Nova Bold"/>
                  <a:cs typeface="Proxima Nova Bold"/>
                  <a:sym typeface="Proxima Nova Bold"/>
                </a:rPr>
                <a:t>Time Savings</a:t>
              </a:r>
            </a:p>
          </p:txBody>
        </p:sp>
        <p:sp>
          <p:nvSpPr>
            <p:cNvPr id="4" name="TextBox 4"/>
            <p:cNvSpPr txBox="1"/>
            <p:nvPr/>
          </p:nvSpPr>
          <p:spPr>
            <a:xfrm>
              <a:off x="0" y="3543318"/>
              <a:ext cx="9182100" cy="6319678"/>
            </a:xfrm>
            <a:prstGeom prst="rect">
              <a:avLst/>
            </a:prstGeom>
          </p:spPr>
          <p:txBody>
            <a:bodyPr lIns="0" tIns="0" rIns="0" bIns="0" rtlCol="0" anchor="t">
              <a:spAutoFit/>
            </a:bodyPr>
            <a:lstStyle/>
            <a:p>
              <a:pPr marL="0" lvl="0" indent="0" algn="l">
                <a:spcBef>
                  <a:spcPct val="0"/>
                </a:spcBef>
              </a:pPr>
              <a:r>
                <a:rPr lang="en-US" sz="4400" dirty="0">
                  <a:solidFill>
                    <a:srgbClr val="F0F4F8"/>
                  </a:solidFill>
                  <a:latin typeface="Proxima Nova"/>
                  <a:ea typeface="Proxima Nova"/>
                  <a:cs typeface="Proxima Nova"/>
                  <a:sym typeface="Proxima Nova"/>
                </a:rPr>
                <a:t>ASURE reduces verification time from </a:t>
              </a:r>
              <a:r>
                <a:rPr lang="en-US" sz="4400" b="1" dirty="0">
                  <a:solidFill>
                    <a:srgbClr val="F0F4F8"/>
                  </a:solidFill>
                  <a:latin typeface="Proxima Nova Bold"/>
                  <a:ea typeface="Proxima Nova Bold"/>
                  <a:cs typeface="Proxima Nova Bold"/>
                  <a:sym typeface="Proxima Nova Bold"/>
                </a:rPr>
                <a:t>hours to seconds</a:t>
              </a:r>
              <a:r>
                <a:rPr lang="en-US" sz="4400" dirty="0">
                  <a:solidFill>
                    <a:srgbClr val="F0F4F8"/>
                  </a:solidFill>
                  <a:latin typeface="Proxima Nova"/>
                  <a:ea typeface="Proxima Nova"/>
                  <a:cs typeface="Proxima Nova"/>
                  <a:sym typeface="Proxima Nova"/>
                </a:rPr>
                <a:t>, enabling faster decision-making and enhancing efficiency for users across various sectors.</a:t>
              </a:r>
            </a:p>
          </p:txBody>
        </p:sp>
        <p:sp>
          <p:nvSpPr>
            <p:cNvPr id="5" name="TextBox 5"/>
            <p:cNvSpPr txBox="1"/>
            <p:nvPr/>
          </p:nvSpPr>
          <p:spPr>
            <a:xfrm>
              <a:off x="0" y="66675"/>
              <a:ext cx="9182100" cy="1550459"/>
            </a:xfrm>
            <a:prstGeom prst="rect">
              <a:avLst/>
            </a:prstGeom>
          </p:spPr>
          <p:txBody>
            <a:bodyPr lIns="0" tIns="0" rIns="0" bIns="0" rtlCol="0" anchor="t">
              <a:spAutoFit/>
            </a:bodyPr>
            <a:lstStyle/>
            <a:p>
              <a:pPr marL="0" lvl="0" indent="0" algn="l">
                <a:lnSpc>
                  <a:spcPts val="8000"/>
                </a:lnSpc>
              </a:pPr>
              <a:r>
                <a:rPr lang="en-US" sz="8000" b="1">
                  <a:solidFill>
                    <a:srgbClr val="A8C0F0"/>
                  </a:solidFill>
                  <a:latin typeface="Poppins Bold"/>
                  <a:ea typeface="Poppins Bold"/>
                  <a:cs typeface="Poppins Bold"/>
                  <a:sym typeface="Poppins Bold"/>
                </a:rPr>
                <a:t>90%</a:t>
              </a:r>
            </a:p>
          </p:txBody>
        </p:sp>
      </p:grpSp>
      <p:grpSp>
        <p:nvGrpSpPr>
          <p:cNvPr id="6" name="Group 6"/>
          <p:cNvGrpSpPr/>
          <p:nvPr/>
        </p:nvGrpSpPr>
        <p:grpSpPr>
          <a:xfrm>
            <a:off x="9144000" y="0"/>
            <a:ext cx="9144000" cy="10287000"/>
            <a:chOff x="0" y="0"/>
            <a:chExt cx="812800" cy="914400"/>
          </a:xfrm>
        </p:grpSpPr>
        <p:sp>
          <p:nvSpPr>
            <p:cNvPr id="7" name="Freeform 7"/>
            <p:cNvSpPr/>
            <p:nvPr/>
          </p:nvSpPr>
          <p:spPr>
            <a:xfrm>
              <a:off x="0" y="0"/>
              <a:ext cx="812800" cy="914400"/>
            </a:xfrm>
            <a:custGeom>
              <a:avLst/>
              <a:gdLst/>
              <a:ahLst/>
              <a:cxnLst/>
              <a:rect l="l" t="t" r="r" b="b"/>
              <a:pathLst>
                <a:path w="812800" h="914400">
                  <a:moveTo>
                    <a:pt x="0" y="0"/>
                  </a:moveTo>
                  <a:lnTo>
                    <a:pt x="812800" y="0"/>
                  </a:lnTo>
                  <a:lnTo>
                    <a:pt x="812800" y="914400"/>
                  </a:lnTo>
                  <a:lnTo>
                    <a:pt x="0" y="914400"/>
                  </a:lnTo>
                  <a:close/>
                </a:path>
              </a:pathLst>
            </a:custGeom>
            <a:blipFill>
              <a:blip r:embed="rId2"/>
              <a:stretch>
                <a:fillRect t="-219" b="-219"/>
              </a:stretch>
            </a:blipFill>
          </p:spPr>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E3F"/>
        </a:solidFill>
        <a:effectLst/>
      </p:bgPr>
    </p:bg>
    <p:spTree>
      <p:nvGrpSpPr>
        <p:cNvPr id="1" name=""/>
        <p:cNvGrpSpPr/>
        <p:nvPr/>
      </p:nvGrpSpPr>
      <p:grpSpPr>
        <a:xfrm>
          <a:off x="0" y="0"/>
          <a:ext cx="0" cy="0"/>
          <a:chOff x="0" y="0"/>
          <a:chExt cx="0" cy="0"/>
        </a:xfrm>
      </p:grpSpPr>
      <p:grpSp>
        <p:nvGrpSpPr>
          <p:cNvPr id="2" name="Group 2"/>
          <p:cNvGrpSpPr/>
          <p:nvPr/>
        </p:nvGrpSpPr>
        <p:grpSpPr>
          <a:xfrm>
            <a:off x="10429875" y="666750"/>
            <a:ext cx="7191375" cy="8953500"/>
            <a:chOff x="0" y="0"/>
            <a:chExt cx="812800" cy="1011963"/>
          </a:xfrm>
        </p:grpSpPr>
        <p:sp>
          <p:nvSpPr>
            <p:cNvPr id="3" name="Freeform 3"/>
            <p:cNvSpPr/>
            <p:nvPr/>
          </p:nvSpPr>
          <p:spPr>
            <a:xfrm>
              <a:off x="0" y="0"/>
              <a:ext cx="812800" cy="1011963"/>
            </a:xfrm>
            <a:custGeom>
              <a:avLst/>
              <a:gdLst/>
              <a:ahLst/>
              <a:cxnLst/>
              <a:rect l="l" t="t" r="r" b="b"/>
              <a:pathLst>
                <a:path w="812800" h="1011963">
                  <a:moveTo>
                    <a:pt x="0" y="0"/>
                  </a:moveTo>
                  <a:lnTo>
                    <a:pt x="812800" y="0"/>
                  </a:lnTo>
                  <a:lnTo>
                    <a:pt x="812800" y="1011963"/>
                  </a:lnTo>
                  <a:lnTo>
                    <a:pt x="0" y="1011963"/>
                  </a:lnTo>
                  <a:close/>
                </a:path>
              </a:pathLst>
            </a:custGeom>
            <a:blipFill>
              <a:blip r:embed="rId2"/>
              <a:stretch>
                <a:fillRect t="-199" b="-199"/>
              </a:stretch>
            </a:blipFill>
          </p:spPr>
        </p:sp>
      </p:grpSp>
      <p:grpSp>
        <p:nvGrpSpPr>
          <p:cNvPr id="4" name="Group 4"/>
          <p:cNvGrpSpPr/>
          <p:nvPr/>
        </p:nvGrpSpPr>
        <p:grpSpPr>
          <a:xfrm>
            <a:off x="666750" y="5143500"/>
            <a:ext cx="8629650" cy="4476750"/>
            <a:chOff x="0" y="0"/>
            <a:chExt cx="1566802" cy="812800"/>
          </a:xfrm>
        </p:grpSpPr>
        <p:sp>
          <p:nvSpPr>
            <p:cNvPr id="5" name="Freeform 5"/>
            <p:cNvSpPr/>
            <p:nvPr/>
          </p:nvSpPr>
          <p:spPr>
            <a:xfrm>
              <a:off x="0" y="0"/>
              <a:ext cx="1566802" cy="812800"/>
            </a:xfrm>
            <a:custGeom>
              <a:avLst/>
              <a:gdLst/>
              <a:ahLst/>
              <a:cxnLst/>
              <a:rect l="l" t="t" r="r" b="b"/>
              <a:pathLst>
                <a:path w="1566802" h="812800">
                  <a:moveTo>
                    <a:pt x="0" y="0"/>
                  </a:moveTo>
                  <a:lnTo>
                    <a:pt x="1566802" y="0"/>
                  </a:lnTo>
                  <a:lnTo>
                    <a:pt x="1566802" y="812800"/>
                  </a:lnTo>
                  <a:lnTo>
                    <a:pt x="0" y="812800"/>
                  </a:lnTo>
                  <a:close/>
                </a:path>
              </a:pathLst>
            </a:custGeom>
            <a:blipFill>
              <a:blip r:embed="rId3"/>
              <a:stretch>
                <a:fillRect l="-487" r="-487"/>
              </a:stretch>
            </a:blipFill>
          </p:spPr>
        </p:sp>
      </p:grpSp>
      <p:sp>
        <p:nvSpPr>
          <p:cNvPr id="6" name="TextBox 6"/>
          <p:cNvSpPr txBox="1"/>
          <p:nvPr/>
        </p:nvSpPr>
        <p:spPr>
          <a:xfrm>
            <a:off x="666750" y="657246"/>
            <a:ext cx="8324850" cy="1593850"/>
          </a:xfrm>
          <a:prstGeom prst="rect">
            <a:avLst/>
          </a:prstGeom>
        </p:spPr>
        <p:txBody>
          <a:bodyPr lIns="0" tIns="0" rIns="0" bIns="0" rtlCol="0" anchor="t">
            <a:spAutoFit/>
          </a:bodyPr>
          <a:lstStyle/>
          <a:p>
            <a:pPr marL="0" lvl="0" indent="0" algn="l">
              <a:lnSpc>
                <a:spcPts val="6049"/>
              </a:lnSpc>
              <a:spcBef>
                <a:spcPct val="0"/>
              </a:spcBef>
            </a:pPr>
            <a:r>
              <a:rPr lang="en-US" sz="5499" b="1" u="none" strike="noStrike">
                <a:solidFill>
                  <a:srgbClr val="9FBFEC"/>
                </a:solidFill>
                <a:latin typeface="Poppins Bold"/>
                <a:ea typeface="Poppins Bold"/>
                <a:cs typeface="Poppins Bold"/>
                <a:sym typeface="Poppins Bold"/>
              </a:rPr>
              <a:t>ASURE: Trusted by Diverse Institutions</a:t>
            </a:r>
          </a:p>
        </p:txBody>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91F3A"/>
        </a:solidFill>
        <a:effectLst/>
      </p:bgPr>
    </p:bg>
    <p:spTree>
      <p:nvGrpSpPr>
        <p:cNvPr id="1" name=""/>
        <p:cNvGrpSpPr/>
        <p:nvPr/>
      </p:nvGrpSpPr>
      <p:grpSpPr>
        <a:xfrm>
          <a:off x="0" y="0"/>
          <a:ext cx="0" cy="0"/>
          <a:chOff x="0" y="0"/>
          <a:chExt cx="0" cy="0"/>
        </a:xfrm>
      </p:grpSpPr>
      <p:grpSp>
        <p:nvGrpSpPr>
          <p:cNvPr id="2" name="Group 2"/>
          <p:cNvGrpSpPr/>
          <p:nvPr/>
        </p:nvGrpSpPr>
        <p:grpSpPr>
          <a:xfrm>
            <a:off x="10734675" y="1028700"/>
            <a:ext cx="5753100" cy="1829314"/>
            <a:chOff x="0" y="0"/>
            <a:chExt cx="7670800" cy="2439086"/>
          </a:xfrm>
        </p:grpSpPr>
        <p:sp>
          <p:nvSpPr>
            <p:cNvPr id="3" name="TextBox 3"/>
            <p:cNvSpPr txBox="1"/>
            <p:nvPr/>
          </p:nvSpPr>
          <p:spPr>
            <a:xfrm>
              <a:off x="0" y="1880286"/>
              <a:ext cx="7670800" cy="558800"/>
            </a:xfrm>
            <a:prstGeom prst="rect">
              <a:avLst/>
            </a:prstGeom>
          </p:spPr>
          <p:txBody>
            <a:bodyPr lIns="0" tIns="0" rIns="0" bIns="0" rtlCol="0" anchor="t">
              <a:spAutoFit/>
            </a:bodyPr>
            <a:lstStyle/>
            <a:p>
              <a:pPr marL="0" lvl="0" indent="0" algn="ctr">
                <a:lnSpc>
                  <a:spcPts val="3359"/>
                </a:lnSpc>
              </a:pPr>
              <a:r>
                <a:rPr lang="en-US" sz="2799" b="1">
                  <a:solidFill>
                    <a:srgbClr val="F0F4F8"/>
                  </a:solidFill>
                  <a:latin typeface="Proxima Nova Bold"/>
                  <a:ea typeface="Proxima Nova Bold"/>
                  <a:cs typeface="Proxima Nova Bold"/>
                  <a:sym typeface="Proxima Nova Bold"/>
                </a:rPr>
                <a:t>Customer Satisfaction Rate</a:t>
              </a:r>
            </a:p>
          </p:txBody>
        </p:sp>
        <p:sp>
          <p:nvSpPr>
            <p:cNvPr id="4" name="TextBox 4"/>
            <p:cNvSpPr txBox="1"/>
            <p:nvPr/>
          </p:nvSpPr>
          <p:spPr>
            <a:xfrm>
              <a:off x="0" y="-9525"/>
              <a:ext cx="7670800" cy="1630892"/>
            </a:xfrm>
            <a:prstGeom prst="rect">
              <a:avLst/>
            </a:prstGeom>
          </p:spPr>
          <p:txBody>
            <a:bodyPr lIns="0" tIns="0" rIns="0" bIns="0" rtlCol="0" anchor="t">
              <a:spAutoFit/>
            </a:bodyPr>
            <a:lstStyle/>
            <a:p>
              <a:pPr marL="0" lvl="0" indent="0" algn="ctr">
                <a:lnSpc>
                  <a:spcPts val="8800"/>
                </a:lnSpc>
              </a:pPr>
              <a:r>
                <a:rPr lang="en-US" sz="8000" b="1">
                  <a:solidFill>
                    <a:srgbClr val="A8C0F0"/>
                  </a:solidFill>
                  <a:latin typeface="Poppins Bold"/>
                  <a:ea typeface="Poppins Bold"/>
                  <a:cs typeface="Poppins Bold"/>
                  <a:sym typeface="Poppins Bold"/>
                </a:rPr>
                <a:t>95%</a:t>
              </a:r>
            </a:p>
          </p:txBody>
        </p:sp>
      </p:grpSp>
      <p:grpSp>
        <p:nvGrpSpPr>
          <p:cNvPr id="5" name="Group 5"/>
          <p:cNvGrpSpPr/>
          <p:nvPr/>
        </p:nvGrpSpPr>
        <p:grpSpPr>
          <a:xfrm>
            <a:off x="10734675" y="4056062"/>
            <a:ext cx="5753100" cy="1909672"/>
            <a:chOff x="0" y="0"/>
            <a:chExt cx="7670800" cy="2546229"/>
          </a:xfrm>
        </p:grpSpPr>
        <p:sp>
          <p:nvSpPr>
            <p:cNvPr id="6" name="TextBox 6"/>
            <p:cNvSpPr txBox="1"/>
            <p:nvPr/>
          </p:nvSpPr>
          <p:spPr>
            <a:xfrm>
              <a:off x="0" y="1985285"/>
              <a:ext cx="7670800" cy="560945"/>
            </a:xfrm>
            <a:prstGeom prst="rect">
              <a:avLst/>
            </a:prstGeom>
          </p:spPr>
          <p:txBody>
            <a:bodyPr lIns="0" tIns="0" rIns="0" bIns="0" rtlCol="0" anchor="t">
              <a:spAutoFit/>
            </a:bodyPr>
            <a:lstStyle/>
            <a:p>
              <a:pPr marL="0" lvl="0" indent="0" algn="ctr">
                <a:lnSpc>
                  <a:spcPts val="3359"/>
                </a:lnSpc>
                <a:spcBef>
                  <a:spcPct val="0"/>
                </a:spcBef>
              </a:pPr>
              <a:r>
                <a:rPr lang="en-US" sz="2799" b="1" u="none" strike="noStrike">
                  <a:solidFill>
                    <a:srgbClr val="F0F4F8"/>
                  </a:solidFill>
                  <a:latin typeface="Proxima Nova Bold"/>
                  <a:ea typeface="Proxima Nova Bold"/>
                  <a:cs typeface="Proxima Nova Bold"/>
                  <a:sym typeface="Proxima Nova Bold"/>
                </a:rPr>
                <a:t>Faster Verification Speed</a:t>
              </a:r>
            </a:p>
          </p:txBody>
        </p:sp>
        <p:sp>
          <p:nvSpPr>
            <p:cNvPr id="7" name="TextBox 7"/>
            <p:cNvSpPr txBox="1"/>
            <p:nvPr/>
          </p:nvSpPr>
          <p:spPr>
            <a:xfrm>
              <a:off x="0" y="-9525"/>
              <a:ext cx="7670800" cy="1630892"/>
            </a:xfrm>
            <a:prstGeom prst="rect">
              <a:avLst/>
            </a:prstGeom>
          </p:spPr>
          <p:txBody>
            <a:bodyPr lIns="0" tIns="0" rIns="0" bIns="0" rtlCol="0" anchor="t">
              <a:spAutoFit/>
            </a:bodyPr>
            <a:lstStyle/>
            <a:p>
              <a:pPr marL="0" lvl="0" indent="0" algn="ctr">
                <a:lnSpc>
                  <a:spcPts val="8800"/>
                </a:lnSpc>
                <a:spcBef>
                  <a:spcPct val="0"/>
                </a:spcBef>
              </a:pPr>
              <a:r>
                <a:rPr lang="en-US" sz="8000" b="1" u="none" strike="noStrike">
                  <a:solidFill>
                    <a:srgbClr val="A8C0F0"/>
                  </a:solidFill>
                  <a:latin typeface="Poppins Bold"/>
                  <a:ea typeface="Poppins Bold"/>
                  <a:cs typeface="Poppins Bold"/>
                  <a:sym typeface="Poppins Bold"/>
                </a:rPr>
                <a:t>10x</a:t>
              </a:r>
            </a:p>
          </p:txBody>
        </p:sp>
      </p:grpSp>
      <p:grpSp>
        <p:nvGrpSpPr>
          <p:cNvPr id="8" name="Group 8"/>
          <p:cNvGrpSpPr/>
          <p:nvPr/>
        </p:nvGrpSpPr>
        <p:grpSpPr>
          <a:xfrm>
            <a:off x="10734675" y="7383160"/>
            <a:ext cx="5753100" cy="1875140"/>
            <a:chOff x="0" y="0"/>
            <a:chExt cx="7670800" cy="2500186"/>
          </a:xfrm>
        </p:grpSpPr>
        <p:sp>
          <p:nvSpPr>
            <p:cNvPr id="9" name="TextBox 9"/>
            <p:cNvSpPr txBox="1"/>
            <p:nvPr/>
          </p:nvSpPr>
          <p:spPr>
            <a:xfrm>
              <a:off x="0" y="1939242"/>
              <a:ext cx="7670800" cy="560945"/>
            </a:xfrm>
            <a:prstGeom prst="rect">
              <a:avLst/>
            </a:prstGeom>
          </p:spPr>
          <p:txBody>
            <a:bodyPr lIns="0" tIns="0" rIns="0" bIns="0" rtlCol="0" anchor="t">
              <a:spAutoFit/>
            </a:bodyPr>
            <a:lstStyle/>
            <a:p>
              <a:pPr marL="0" lvl="0" indent="0" algn="ctr">
                <a:lnSpc>
                  <a:spcPts val="3359"/>
                </a:lnSpc>
                <a:spcBef>
                  <a:spcPct val="0"/>
                </a:spcBef>
              </a:pPr>
              <a:r>
                <a:rPr lang="en-US" sz="2799" b="1" u="none" strike="noStrike">
                  <a:solidFill>
                    <a:srgbClr val="F0F4F8"/>
                  </a:solidFill>
                  <a:latin typeface="Proxima Nova Bold"/>
                  <a:ea typeface="Proxima Nova Bold"/>
                  <a:cs typeface="Proxima Nova Bold"/>
                  <a:sym typeface="Proxima Nova Bold"/>
                </a:rPr>
                <a:t>Accuracy in Results</a:t>
              </a:r>
            </a:p>
          </p:txBody>
        </p:sp>
        <p:sp>
          <p:nvSpPr>
            <p:cNvPr id="10" name="TextBox 10"/>
            <p:cNvSpPr txBox="1"/>
            <p:nvPr/>
          </p:nvSpPr>
          <p:spPr>
            <a:xfrm>
              <a:off x="0" y="-9525"/>
              <a:ext cx="7670800" cy="1630892"/>
            </a:xfrm>
            <a:prstGeom prst="rect">
              <a:avLst/>
            </a:prstGeom>
          </p:spPr>
          <p:txBody>
            <a:bodyPr lIns="0" tIns="0" rIns="0" bIns="0" rtlCol="0" anchor="t">
              <a:spAutoFit/>
            </a:bodyPr>
            <a:lstStyle/>
            <a:p>
              <a:pPr marL="0" lvl="0" indent="0" algn="ctr">
                <a:lnSpc>
                  <a:spcPts val="8800"/>
                </a:lnSpc>
                <a:spcBef>
                  <a:spcPct val="0"/>
                </a:spcBef>
              </a:pPr>
              <a:r>
                <a:rPr lang="en-US" sz="8000" b="1" u="none" strike="noStrike">
                  <a:solidFill>
                    <a:srgbClr val="A8C0F0"/>
                  </a:solidFill>
                  <a:latin typeface="Poppins Bold"/>
                  <a:ea typeface="Poppins Bold"/>
                  <a:cs typeface="Poppins Bold"/>
                  <a:sym typeface="Poppins Bold"/>
                </a:rPr>
                <a:t>99.9%</a:t>
              </a:r>
            </a:p>
          </p:txBody>
        </p:sp>
      </p:grpSp>
      <p:grpSp>
        <p:nvGrpSpPr>
          <p:cNvPr id="11" name="Group 11"/>
          <p:cNvGrpSpPr/>
          <p:nvPr/>
        </p:nvGrpSpPr>
        <p:grpSpPr>
          <a:xfrm>
            <a:off x="0" y="0"/>
            <a:ext cx="9144000" cy="10287000"/>
            <a:chOff x="0" y="0"/>
            <a:chExt cx="1534063" cy="1725821"/>
          </a:xfrm>
        </p:grpSpPr>
        <p:sp>
          <p:nvSpPr>
            <p:cNvPr id="12" name="Freeform 12"/>
            <p:cNvSpPr/>
            <p:nvPr/>
          </p:nvSpPr>
          <p:spPr>
            <a:xfrm>
              <a:off x="0" y="0"/>
              <a:ext cx="1534063" cy="1725821"/>
            </a:xfrm>
            <a:custGeom>
              <a:avLst/>
              <a:gdLst/>
              <a:ahLst/>
              <a:cxnLst/>
              <a:rect l="l" t="t" r="r" b="b"/>
              <a:pathLst>
                <a:path w="1534063" h="1725821">
                  <a:moveTo>
                    <a:pt x="0" y="0"/>
                  </a:moveTo>
                  <a:lnTo>
                    <a:pt x="1534063" y="0"/>
                  </a:lnTo>
                  <a:lnTo>
                    <a:pt x="1534063" y="1725821"/>
                  </a:lnTo>
                  <a:lnTo>
                    <a:pt x="0" y="1725821"/>
                  </a:lnTo>
                  <a:close/>
                </a:path>
              </a:pathLst>
            </a:custGeom>
            <a:blipFill>
              <a:blip r:embed="rId2"/>
              <a:stretch>
                <a:fillRect t="-219" b="-219"/>
              </a:stretch>
            </a:blipFill>
          </p:spPr>
        </p:sp>
      </p:gr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1F3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9144000" cy="10287000"/>
            <a:chOff x="0" y="0"/>
            <a:chExt cx="812800" cy="914400"/>
          </a:xfrm>
        </p:grpSpPr>
        <p:sp>
          <p:nvSpPr>
            <p:cNvPr id="3" name="Freeform 3"/>
            <p:cNvSpPr/>
            <p:nvPr/>
          </p:nvSpPr>
          <p:spPr>
            <a:xfrm>
              <a:off x="0" y="0"/>
              <a:ext cx="812800" cy="914400"/>
            </a:xfrm>
            <a:custGeom>
              <a:avLst/>
              <a:gdLst/>
              <a:ahLst/>
              <a:cxnLst/>
              <a:rect l="l" t="t" r="r" b="b"/>
              <a:pathLst>
                <a:path w="812800" h="914400">
                  <a:moveTo>
                    <a:pt x="0" y="0"/>
                  </a:moveTo>
                  <a:lnTo>
                    <a:pt x="812800" y="0"/>
                  </a:lnTo>
                  <a:lnTo>
                    <a:pt x="812800" y="914400"/>
                  </a:lnTo>
                  <a:lnTo>
                    <a:pt x="0" y="914400"/>
                  </a:lnTo>
                  <a:close/>
                </a:path>
              </a:pathLst>
            </a:custGeom>
            <a:blipFill>
              <a:blip r:embed="rId2"/>
              <a:stretch>
                <a:fillRect t="-219" b="-219"/>
              </a:stretch>
            </a:blipFill>
          </p:spPr>
        </p:sp>
      </p:grpSp>
      <p:grpSp>
        <p:nvGrpSpPr>
          <p:cNvPr id="4" name="Group 4"/>
          <p:cNvGrpSpPr/>
          <p:nvPr/>
        </p:nvGrpSpPr>
        <p:grpSpPr>
          <a:xfrm>
            <a:off x="10734675" y="666750"/>
            <a:ext cx="6886575" cy="8533209"/>
            <a:chOff x="0" y="0"/>
            <a:chExt cx="9182100" cy="11377612"/>
          </a:xfrm>
        </p:grpSpPr>
        <p:sp>
          <p:nvSpPr>
            <p:cNvPr id="5" name="TextBox 5"/>
            <p:cNvSpPr txBox="1"/>
            <p:nvPr/>
          </p:nvSpPr>
          <p:spPr>
            <a:xfrm>
              <a:off x="0" y="0"/>
              <a:ext cx="9182100" cy="1805623"/>
            </a:xfrm>
            <a:prstGeom prst="rect">
              <a:avLst/>
            </a:prstGeom>
          </p:spPr>
          <p:txBody>
            <a:bodyPr lIns="0" tIns="0" rIns="0" bIns="0" rtlCol="0" anchor="t">
              <a:spAutoFit/>
            </a:bodyPr>
            <a:lstStyle/>
            <a:p>
              <a:pPr marL="0" lvl="0" indent="0" algn="l">
                <a:spcBef>
                  <a:spcPct val="0"/>
                </a:spcBef>
              </a:pPr>
              <a:r>
                <a:rPr lang="en-US" sz="4400" b="1" u="none" strike="noStrike">
                  <a:solidFill>
                    <a:srgbClr val="9FBFEC"/>
                  </a:solidFill>
                  <a:latin typeface="Poppins Bold"/>
                  <a:ea typeface="Poppins Bold"/>
                  <a:cs typeface="Poppins Bold"/>
                  <a:sym typeface="Poppins Bold"/>
                </a:rPr>
                <a:t>Production Ready: Fully Built System</a:t>
              </a:r>
            </a:p>
          </p:txBody>
        </p:sp>
        <p:sp>
          <p:nvSpPr>
            <p:cNvPr id="6" name="TextBox 6"/>
            <p:cNvSpPr txBox="1"/>
            <p:nvPr/>
          </p:nvSpPr>
          <p:spPr>
            <a:xfrm>
              <a:off x="0" y="2349500"/>
              <a:ext cx="9182100" cy="9028112"/>
            </a:xfrm>
            <a:prstGeom prst="rect">
              <a:avLst/>
            </a:prstGeom>
          </p:spPr>
          <p:txBody>
            <a:bodyPr lIns="0" tIns="0" rIns="0" bIns="0" rtlCol="0" anchor="t">
              <a:spAutoFit/>
            </a:bodyPr>
            <a:lstStyle/>
            <a:p>
              <a:pPr marL="0" lvl="0" indent="0" algn="l">
                <a:spcBef>
                  <a:spcPct val="0"/>
                </a:spcBef>
              </a:pPr>
              <a:r>
                <a:rPr lang="en-US" sz="4400" dirty="0">
                  <a:solidFill>
                    <a:srgbClr val="F0F4F8"/>
                  </a:solidFill>
                  <a:latin typeface="Proxima Nova"/>
                  <a:ea typeface="Proxima Nova"/>
                  <a:cs typeface="Proxima Nova"/>
                  <a:sym typeface="Proxima Nova"/>
                </a:rPr>
                <a:t>ASURE's platform is now </a:t>
              </a:r>
              <a:r>
                <a:rPr lang="en-US" sz="4400" b="1" dirty="0">
                  <a:solidFill>
                    <a:srgbClr val="F0F4F8"/>
                  </a:solidFill>
                  <a:latin typeface="Proxima Nova Bold"/>
                  <a:ea typeface="Proxima Nova Bold"/>
                  <a:cs typeface="Proxima Nova Bold"/>
                  <a:sym typeface="Proxima Nova Bold"/>
                </a:rPr>
                <a:t>fully operational and secure</a:t>
              </a:r>
              <a:r>
                <a:rPr lang="en-US" sz="4400" dirty="0">
                  <a:solidFill>
                    <a:srgbClr val="F0F4F8"/>
                  </a:solidFill>
                  <a:latin typeface="Proxima Nova"/>
                  <a:ea typeface="Proxima Nova"/>
                  <a:cs typeface="Proxima Nova"/>
                  <a:sym typeface="Proxima Nova"/>
                </a:rPr>
                <a:t>, designed to meet the demands of modern verification needs. With extensive testing, it promises reliability and efficiency for all users, ready for immediate deployment.</a:t>
              </a: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91F3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9144000" cy="10287000"/>
            <a:chOff x="0" y="0"/>
            <a:chExt cx="812800" cy="914400"/>
          </a:xfrm>
        </p:grpSpPr>
        <p:sp>
          <p:nvSpPr>
            <p:cNvPr id="3" name="Freeform 3"/>
            <p:cNvSpPr/>
            <p:nvPr/>
          </p:nvSpPr>
          <p:spPr>
            <a:xfrm>
              <a:off x="0" y="0"/>
              <a:ext cx="812800" cy="914400"/>
            </a:xfrm>
            <a:custGeom>
              <a:avLst/>
              <a:gdLst/>
              <a:ahLst/>
              <a:cxnLst/>
              <a:rect l="l" t="t" r="r" b="b"/>
              <a:pathLst>
                <a:path w="812800" h="914400">
                  <a:moveTo>
                    <a:pt x="0" y="0"/>
                  </a:moveTo>
                  <a:lnTo>
                    <a:pt x="812800" y="0"/>
                  </a:lnTo>
                  <a:lnTo>
                    <a:pt x="812800" y="914400"/>
                  </a:lnTo>
                  <a:lnTo>
                    <a:pt x="0" y="914400"/>
                  </a:lnTo>
                  <a:close/>
                </a:path>
              </a:pathLst>
            </a:custGeom>
            <a:blipFill>
              <a:blip r:embed="rId2"/>
              <a:stretch>
                <a:fillRect t="-219" b="-219"/>
              </a:stretch>
            </a:blipFill>
          </p:spPr>
        </p:sp>
      </p:grpSp>
      <p:grpSp>
        <p:nvGrpSpPr>
          <p:cNvPr id="4" name="Group 4"/>
          <p:cNvGrpSpPr/>
          <p:nvPr/>
        </p:nvGrpSpPr>
        <p:grpSpPr>
          <a:xfrm>
            <a:off x="10734675" y="666750"/>
            <a:ext cx="6886575" cy="7178993"/>
            <a:chOff x="0" y="0"/>
            <a:chExt cx="9182100" cy="9571991"/>
          </a:xfrm>
        </p:grpSpPr>
        <p:sp>
          <p:nvSpPr>
            <p:cNvPr id="5" name="TextBox 5"/>
            <p:cNvSpPr txBox="1"/>
            <p:nvPr/>
          </p:nvSpPr>
          <p:spPr>
            <a:xfrm>
              <a:off x="0" y="0"/>
              <a:ext cx="9182100" cy="2125133"/>
            </a:xfrm>
            <a:prstGeom prst="rect">
              <a:avLst/>
            </a:prstGeom>
          </p:spPr>
          <p:txBody>
            <a:bodyPr lIns="0" tIns="0" rIns="0" bIns="0" rtlCol="0" anchor="t">
              <a:spAutoFit/>
            </a:bodyPr>
            <a:lstStyle/>
            <a:p>
              <a:pPr marL="0" lvl="0" indent="0" algn="l">
                <a:lnSpc>
                  <a:spcPts val="6049"/>
                </a:lnSpc>
                <a:spcBef>
                  <a:spcPct val="0"/>
                </a:spcBef>
              </a:pPr>
              <a:r>
                <a:rPr lang="en-US" sz="5499" b="1" u="none" strike="noStrike">
                  <a:solidFill>
                    <a:srgbClr val="9FBFEC"/>
                  </a:solidFill>
                  <a:latin typeface="Poppins Bold"/>
                  <a:ea typeface="Poppins Bold"/>
                  <a:cs typeface="Poppins Bold"/>
                  <a:sym typeface="Poppins Bold"/>
                </a:rPr>
                <a:t>ASURE is Available Now</a:t>
              </a:r>
            </a:p>
          </p:txBody>
        </p:sp>
        <p:sp>
          <p:nvSpPr>
            <p:cNvPr id="6" name="TextBox 6"/>
            <p:cNvSpPr txBox="1"/>
            <p:nvPr/>
          </p:nvSpPr>
          <p:spPr>
            <a:xfrm>
              <a:off x="0" y="2349500"/>
              <a:ext cx="9182100" cy="7222491"/>
            </a:xfrm>
            <a:prstGeom prst="rect">
              <a:avLst/>
            </a:prstGeom>
          </p:spPr>
          <p:txBody>
            <a:bodyPr lIns="0" tIns="0" rIns="0" bIns="0" rtlCol="0" anchor="t">
              <a:spAutoFit/>
            </a:bodyPr>
            <a:lstStyle/>
            <a:p>
              <a:pPr marL="0" lvl="0" indent="0" algn="l">
                <a:spcBef>
                  <a:spcPct val="0"/>
                </a:spcBef>
              </a:pPr>
              <a:r>
                <a:rPr lang="en-US" sz="4400" dirty="0">
                  <a:solidFill>
                    <a:srgbClr val="F0F4F8"/>
                  </a:solidFill>
                  <a:latin typeface="Proxima Nova"/>
                  <a:ea typeface="Proxima Nova"/>
                  <a:cs typeface="Proxima Nova"/>
                  <a:sym typeface="Proxima Nova"/>
                </a:rPr>
                <a:t>Experience our cutting-edge platform with instant verification capabilities. ASURE is ready for use, providing a seamless and reliable solution for all your verification needs, ensuring trust and safety.</a:t>
              </a:r>
            </a:p>
          </p:txBody>
        </p:sp>
      </p:gr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1F38"/>
        </a:solidFill>
        <a:effectLst/>
      </p:bgPr>
    </p:bg>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1457995" cy="1640244"/>
          </a:xfrm>
        </p:grpSpPr>
        <p:sp>
          <p:nvSpPr>
            <p:cNvPr id="3" name="Freeform 3"/>
            <p:cNvSpPr/>
            <p:nvPr/>
          </p:nvSpPr>
          <p:spPr>
            <a:xfrm>
              <a:off x="0" y="0"/>
              <a:ext cx="1457995" cy="1640244"/>
            </a:xfrm>
            <a:custGeom>
              <a:avLst/>
              <a:gdLst/>
              <a:ahLst/>
              <a:cxnLst/>
              <a:rect l="l" t="t" r="r" b="b"/>
              <a:pathLst>
                <a:path w="1457995" h="1640244">
                  <a:moveTo>
                    <a:pt x="0" y="0"/>
                  </a:moveTo>
                  <a:lnTo>
                    <a:pt x="1457995" y="0"/>
                  </a:lnTo>
                  <a:lnTo>
                    <a:pt x="1457995" y="1640244"/>
                  </a:lnTo>
                  <a:lnTo>
                    <a:pt x="0" y="1640244"/>
                  </a:lnTo>
                  <a:close/>
                </a:path>
              </a:pathLst>
            </a:custGeom>
            <a:blipFill>
              <a:blip r:embed="rId2"/>
              <a:stretch>
                <a:fillRect t="-219" b="-219"/>
              </a:stretch>
            </a:blipFill>
          </p:spPr>
        </p:sp>
      </p:grpSp>
      <p:grpSp>
        <p:nvGrpSpPr>
          <p:cNvPr id="4" name="Group 4"/>
          <p:cNvGrpSpPr/>
          <p:nvPr/>
        </p:nvGrpSpPr>
        <p:grpSpPr>
          <a:xfrm>
            <a:off x="214842" y="659606"/>
            <a:ext cx="8929158" cy="7764583"/>
            <a:chOff x="-609600" y="-9525"/>
            <a:chExt cx="11905544" cy="10352776"/>
          </a:xfrm>
        </p:grpSpPr>
        <p:sp>
          <p:nvSpPr>
            <p:cNvPr id="5" name="TextBox 5"/>
            <p:cNvSpPr txBox="1"/>
            <p:nvPr/>
          </p:nvSpPr>
          <p:spPr>
            <a:xfrm>
              <a:off x="0" y="2057400"/>
              <a:ext cx="9167399" cy="1333698"/>
            </a:xfrm>
            <a:prstGeom prst="rect">
              <a:avLst/>
            </a:prstGeom>
          </p:spPr>
          <p:txBody>
            <a:bodyPr lIns="0" tIns="0" rIns="0" bIns="0" rtlCol="0" anchor="t">
              <a:spAutoFit/>
            </a:bodyPr>
            <a:lstStyle/>
            <a:p>
              <a:pPr marL="0" lvl="0" indent="0" algn="l">
                <a:lnSpc>
                  <a:spcPts val="3900"/>
                </a:lnSpc>
              </a:pPr>
              <a:r>
                <a:rPr lang="en-US" sz="3600" b="1" dirty="0">
                  <a:solidFill>
                    <a:srgbClr val="9FBFEC"/>
                  </a:solidFill>
                  <a:latin typeface="Proxima Nova Bold"/>
                  <a:ea typeface="Proxima Nova Bold"/>
                  <a:cs typeface="Proxima Nova Bold"/>
                  <a:sym typeface="Proxima Nova Bold"/>
                </a:rPr>
                <a:t>The leading solution for trust, speed, and safety in verification</a:t>
              </a:r>
            </a:p>
          </p:txBody>
        </p:sp>
        <p:sp>
          <p:nvSpPr>
            <p:cNvPr id="6" name="TextBox 6"/>
            <p:cNvSpPr txBox="1"/>
            <p:nvPr/>
          </p:nvSpPr>
          <p:spPr>
            <a:xfrm>
              <a:off x="-609600" y="3742984"/>
              <a:ext cx="11905544" cy="6600267"/>
            </a:xfrm>
            <a:prstGeom prst="rect">
              <a:avLst/>
            </a:prstGeom>
          </p:spPr>
          <p:txBody>
            <a:bodyPr wrap="square" lIns="0" tIns="0" rIns="0" bIns="0" rtlCol="0" anchor="t">
              <a:spAutoFit/>
            </a:bodyPr>
            <a:lstStyle/>
            <a:p>
              <a:pPr marL="518160" lvl="1" indent="-259080" algn="l">
                <a:lnSpc>
                  <a:spcPct val="150000"/>
                </a:lnSpc>
                <a:buFont typeface="Arial"/>
                <a:buChar char="•"/>
              </a:pPr>
              <a:r>
                <a:rPr lang="en-US" sz="4400" b="1" u="none" strike="noStrike" dirty="0">
                  <a:solidFill>
                    <a:srgbClr val="F0F4F8"/>
                  </a:solidFill>
                  <a:latin typeface="Proxima Nova Bold"/>
                  <a:ea typeface="Proxima Nova Bold"/>
                  <a:cs typeface="Proxima Nova Bold"/>
                  <a:sym typeface="Proxima Nova Bold"/>
                </a:rPr>
                <a:t>Trust:</a:t>
              </a:r>
              <a:r>
                <a:rPr lang="en-US" sz="4400" u="none" strike="noStrike" dirty="0">
                  <a:solidFill>
                    <a:srgbClr val="F0F4F8"/>
                  </a:solidFill>
                  <a:latin typeface="Proxima Nova"/>
                  <a:ea typeface="Proxima Nova"/>
                  <a:cs typeface="Proxima Nova"/>
                  <a:sym typeface="Proxima Nova"/>
                </a:rPr>
                <a:t> Verified and reliable results</a:t>
              </a:r>
            </a:p>
            <a:p>
              <a:pPr marL="518160" lvl="1" indent="-259080" algn="l">
                <a:lnSpc>
                  <a:spcPct val="150000"/>
                </a:lnSpc>
                <a:buFont typeface="Arial"/>
                <a:buChar char="•"/>
              </a:pPr>
              <a:r>
                <a:rPr lang="en-US" sz="4400" b="1" u="none" strike="noStrike" dirty="0">
                  <a:solidFill>
                    <a:srgbClr val="F0F4F8"/>
                  </a:solidFill>
                  <a:latin typeface="Proxima Nova Bold"/>
                  <a:ea typeface="Proxima Nova Bold"/>
                  <a:cs typeface="Proxima Nova Bold"/>
                  <a:sym typeface="Proxima Nova Bold"/>
                </a:rPr>
                <a:t>Speed:</a:t>
              </a:r>
              <a:r>
                <a:rPr lang="en-US" sz="4400" u="none" strike="noStrike" dirty="0">
                  <a:solidFill>
                    <a:srgbClr val="F0F4F8"/>
                  </a:solidFill>
                  <a:latin typeface="Proxima Nova"/>
                  <a:ea typeface="Proxima Nova"/>
                  <a:cs typeface="Proxima Nova"/>
                  <a:sym typeface="Proxima Nova"/>
                </a:rPr>
                <a:t> Instant verification at your fingertips</a:t>
              </a:r>
            </a:p>
            <a:p>
              <a:pPr marL="518160" lvl="1" indent="-259080" algn="l">
                <a:lnSpc>
                  <a:spcPct val="150000"/>
                </a:lnSpc>
                <a:buFont typeface="Arial"/>
                <a:buChar char="•"/>
              </a:pPr>
              <a:r>
                <a:rPr lang="en-US" sz="4400" b="1" u="none" strike="noStrike" dirty="0">
                  <a:solidFill>
                    <a:srgbClr val="F0F4F8"/>
                  </a:solidFill>
                  <a:latin typeface="Proxima Nova Bold"/>
                  <a:ea typeface="Proxima Nova Bold"/>
                  <a:cs typeface="Proxima Nova Bold"/>
                  <a:sym typeface="Proxima Nova Bold"/>
                </a:rPr>
                <a:t>Safety:</a:t>
              </a:r>
              <a:r>
                <a:rPr lang="en-US" sz="4400" u="none" strike="noStrike" dirty="0">
                  <a:solidFill>
                    <a:srgbClr val="F0F4F8"/>
                  </a:solidFill>
                  <a:latin typeface="Proxima Nova"/>
                  <a:ea typeface="Proxima Nova"/>
                  <a:cs typeface="Proxima Nova"/>
                  <a:sym typeface="Proxima Nova"/>
                </a:rPr>
                <a:t> Enhanced security measures for peace of mind</a:t>
              </a:r>
            </a:p>
          </p:txBody>
        </p:sp>
        <p:sp>
          <p:nvSpPr>
            <p:cNvPr id="7" name="TextBox 7"/>
            <p:cNvSpPr txBox="1"/>
            <p:nvPr/>
          </p:nvSpPr>
          <p:spPr>
            <a:xfrm>
              <a:off x="0" y="-9525"/>
              <a:ext cx="9175044" cy="1630892"/>
            </a:xfrm>
            <a:prstGeom prst="rect">
              <a:avLst/>
            </a:prstGeom>
          </p:spPr>
          <p:txBody>
            <a:bodyPr lIns="0" tIns="0" rIns="0" bIns="0" rtlCol="0" anchor="t">
              <a:spAutoFit/>
            </a:bodyPr>
            <a:lstStyle/>
            <a:p>
              <a:pPr marL="0" lvl="0" indent="0" algn="l">
                <a:lnSpc>
                  <a:spcPts val="8800"/>
                </a:lnSpc>
              </a:pPr>
              <a:r>
                <a:rPr lang="en-US" sz="8000" b="1">
                  <a:solidFill>
                    <a:srgbClr val="A8C0F0"/>
                  </a:solidFill>
                  <a:latin typeface="Poppins Bold"/>
                  <a:ea typeface="Poppins Bold"/>
                  <a:cs typeface="Poppins Bold"/>
                  <a:sym typeface="Poppins Bold"/>
                </a:rPr>
                <a:t>Why ASURE</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1E3F"/>
        </a:solidFill>
        <a:effectLst/>
      </p:bgPr>
    </p:bg>
    <p:spTree>
      <p:nvGrpSpPr>
        <p:cNvPr id="1" name=""/>
        <p:cNvGrpSpPr/>
        <p:nvPr/>
      </p:nvGrpSpPr>
      <p:grpSpPr>
        <a:xfrm>
          <a:off x="0" y="0"/>
          <a:ext cx="0" cy="0"/>
          <a:chOff x="0" y="0"/>
          <a:chExt cx="0" cy="0"/>
        </a:xfrm>
      </p:grpSpPr>
      <p:grpSp>
        <p:nvGrpSpPr>
          <p:cNvPr id="2" name="Group 2"/>
          <p:cNvGrpSpPr/>
          <p:nvPr/>
        </p:nvGrpSpPr>
        <p:grpSpPr>
          <a:xfrm>
            <a:off x="666750" y="659606"/>
            <a:ext cx="6886575" cy="8299791"/>
            <a:chOff x="0" y="-9525"/>
            <a:chExt cx="9182100" cy="11066389"/>
          </a:xfrm>
        </p:grpSpPr>
        <p:sp>
          <p:nvSpPr>
            <p:cNvPr id="3" name="TextBox 3"/>
            <p:cNvSpPr txBox="1"/>
            <p:nvPr/>
          </p:nvSpPr>
          <p:spPr>
            <a:xfrm>
              <a:off x="0" y="-9525"/>
              <a:ext cx="9182100" cy="1630892"/>
            </a:xfrm>
            <a:prstGeom prst="rect">
              <a:avLst/>
            </a:prstGeom>
          </p:spPr>
          <p:txBody>
            <a:bodyPr lIns="0" tIns="0" rIns="0" bIns="0" rtlCol="0" anchor="t">
              <a:spAutoFit/>
            </a:bodyPr>
            <a:lstStyle/>
            <a:p>
              <a:pPr marL="0" lvl="0" indent="0" algn="l">
                <a:lnSpc>
                  <a:spcPts val="8800"/>
                </a:lnSpc>
              </a:pPr>
              <a:r>
                <a:rPr lang="en-US" sz="8000" b="1">
                  <a:solidFill>
                    <a:srgbClr val="A8C0F0"/>
                  </a:solidFill>
                  <a:latin typeface="Poppins Bold"/>
                  <a:ea typeface="Poppins Bold"/>
                  <a:cs typeface="Poppins Bold"/>
                  <a:sym typeface="Poppins Bold"/>
                </a:rPr>
                <a:t>Future of AI</a:t>
              </a:r>
            </a:p>
          </p:txBody>
        </p:sp>
        <p:sp>
          <p:nvSpPr>
            <p:cNvPr id="4" name="TextBox 4"/>
            <p:cNvSpPr txBox="1"/>
            <p:nvPr/>
          </p:nvSpPr>
          <p:spPr>
            <a:xfrm>
              <a:off x="0" y="2028752"/>
              <a:ext cx="9182100" cy="9028112"/>
            </a:xfrm>
            <a:prstGeom prst="rect">
              <a:avLst/>
            </a:prstGeom>
          </p:spPr>
          <p:txBody>
            <a:bodyPr lIns="0" tIns="0" rIns="0" bIns="0" rtlCol="0" anchor="t">
              <a:spAutoFit/>
            </a:bodyPr>
            <a:lstStyle/>
            <a:p>
              <a:pPr marL="0" lvl="0" indent="0" algn="l">
                <a:spcBef>
                  <a:spcPct val="0"/>
                </a:spcBef>
              </a:pPr>
              <a:r>
                <a:rPr lang="en-US" sz="4400" dirty="0">
                  <a:solidFill>
                    <a:srgbClr val="F0F4F8"/>
                  </a:solidFill>
                  <a:latin typeface="Proxima Nova"/>
                  <a:ea typeface="Proxima Nova"/>
                  <a:cs typeface="Proxima Nova"/>
                  <a:sym typeface="Proxima Nova"/>
                </a:rPr>
                <a:t>ASURE envisions a world where </a:t>
              </a:r>
              <a:r>
                <a:rPr lang="en-US" sz="4400" b="1" dirty="0">
                  <a:solidFill>
                    <a:srgbClr val="F0F4F8"/>
                  </a:solidFill>
                  <a:latin typeface="Proxima Nova Bold"/>
                  <a:ea typeface="Proxima Nova Bold"/>
                  <a:cs typeface="Proxima Nova Bold"/>
                  <a:sym typeface="Proxima Nova Bold"/>
                </a:rPr>
                <a:t>AI technology evolves</a:t>
              </a:r>
              <a:r>
                <a:rPr lang="en-US" sz="4400" dirty="0">
                  <a:solidFill>
                    <a:srgbClr val="F0F4F8"/>
                  </a:solidFill>
                  <a:latin typeface="Proxima Nova"/>
                  <a:ea typeface="Proxima Nova"/>
                  <a:cs typeface="Proxima Nova"/>
                  <a:sym typeface="Proxima Nova"/>
                </a:rPr>
                <a:t> to achieve greater accuracy and efficiency in verification processes, enabling seamless global interactions and fostering trust across diverse sectors by enhancing security measures and reliability.</a:t>
              </a:r>
            </a:p>
          </p:txBody>
        </p:sp>
      </p:grpSp>
      <p:grpSp>
        <p:nvGrpSpPr>
          <p:cNvPr id="5" name="Group 5"/>
          <p:cNvGrpSpPr/>
          <p:nvPr/>
        </p:nvGrpSpPr>
        <p:grpSpPr>
          <a:xfrm>
            <a:off x="9144000" y="0"/>
            <a:ext cx="9144000" cy="10287000"/>
            <a:chOff x="0" y="0"/>
            <a:chExt cx="1534063" cy="1725821"/>
          </a:xfrm>
        </p:grpSpPr>
        <p:sp>
          <p:nvSpPr>
            <p:cNvPr id="6" name="Freeform 6"/>
            <p:cNvSpPr/>
            <p:nvPr/>
          </p:nvSpPr>
          <p:spPr>
            <a:xfrm>
              <a:off x="0" y="0"/>
              <a:ext cx="1534063" cy="1725821"/>
            </a:xfrm>
            <a:custGeom>
              <a:avLst/>
              <a:gdLst/>
              <a:ahLst/>
              <a:cxnLst/>
              <a:rect l="l" t="t" r="r" b="b"/>
              <a:pathLst>
                <a:path w="1534063" h="1725821">
                  <a:moveTo>
                    <a:pt x="0" y="0"/>
                  </a:moveTo>
                  <a:lnTo>
                    <a:pt x="1534063" y="0"/>
                  </a:lnTo>
                  <a:lnTo>
                    <a:pt x="1534063" y="1725821"/>
                  </a:lnTo>
                  <a:lnTo>
                    <a:pt x="0" y="1725821"/>
                  </a:lnTo>
                  <a:close/>
                </a:path>
              </a:pathLst>
            </a:custGeom>
            <a:blipFill>
              <a:blip r:embed="rId2"/>
              <a:stretch>
                <a:fillRect t="-219" b="-219"/>
              </a:stretch>
            </a:blipFill>
          </p:spPr>
        </p:sp>
      </p:grpSp>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91F3A"/>
        </a:solidFill>
        <a:effectLst/>
      </p:bgPr>
    </p:bg>
    <p:spTree>
      <p:nvGrpSpPr>
        <p:cNvPr id="1" name=""/>
        <p:cNvGrpSpPr/>
        <p:nvPr/>
      </p:nvGrpSpPr>
      <p:grpSpPr>
        <a:xfrm>
          <a:off x="0" y="0"/>
          <a:ext cx="0" cy="0"/>
          <a:chOff x="0" y="0"/>
          <a:chExt cx="0" cy="0"/>
        </a:xfrm>
      </p:grpSpPr>
      <p:grpSp>
        <p:nvGrpSpPr>
          <p:cNvPr id="11" name="Group 11"/>
          <p:cNvGrpSpPr/>
          <p:nvPr/>
        </p:nvGrpSpPr>
        <p:grpSpPr>
          <a:xfrm>
            <a:off x="0" y="-12700"/>
            <a:ext cx="9144000" cy="10299700"/>
            <a:chOff x="0" y="0"/>
            <a:chExt cx="786406" cy="885799"/>
          </a:xfrm>
        </p:grpSpPr>
        <p:sp>
          <p:nvSpPr>
            <p:cNvPr id="12" name="Freeform 12"/>
            <p:cNvSpPr/>
            <p:nvPr/>
          </p:nvSpPr>
          <p:spPr>
            <a:xfrm>
              <a:off x="0" y="0"/>
              <a:ext cx="786406" cy="885799"/>
            </a:xfrm>
            <a:custGeom>
              <a:avLst/>
              <a:gdLst/>
              <a:ahLst/>
              <a:cxnLst/>
              <a:rect l="l" t="t" r="r" b="b"/>
              <a:pathLst>
                <a:path w="786406" h="885799">
                  <a:moveTo>
                    <a:pt x="0" y="0"/>
                  </a:moveTo>
                  <a:lnTo>
                    <a:pt x="786406" y="0"/>
                  </a:lnTo>
                  <a:lnTo>
                    <a:pt x="786406" y="885799"/>
                  </a:lnTo>
                  <a:lnTo>
                    <a:pt x="0" y="885799"/>
                  </a:lnTo>
                  <a:close/>
                </a:path>
              </a:pathLst>
            </a:custGeom>
            <a:blipFill>
              <a:blip r:embed="rId2"/>
              <a:stretch>
                <a:fillRect t="-157" b="-157"/>
              </a:stretch>
            </a:blipFill>
          </p:spPr>
        </p:sp>
      </p:grpSp>
      <p:grpSp>
        <p:nvGrpSpPr>
          <p:cNvPr id="13" name="Group 13"/>
          <p:cNvGrpSpPr/>
          <p:nvPr/>
        </p:nvGrpSpPr>
        <p:grpSpPr>
          <a:xfrm>
            <a:off x="10668000" y="3929224"/>
            <a:ext cx="6887867" cy="2415852"/>
            <a:chOff x="0" y="-25400"/>
            <a:chExt cx="9183823" cy="3221136"/>
          </a:xfrm>
        </p:grpSpPr>
        <p:sp>
          <p:nvSpPr>
            <p:cNvPr id="14" name="TextBox 14"/>
            <p:cNvSpPr txBox="1"/>
            <p:nvPr/>
          </p:nvSpPr>
          <p:spPr>
            <a:xfrm>
              <a:off x="1723" y="-25400"/>
              <a:ext cx="9182100" cy="1630892"/>
            </a:xfrm>
            <a:prstGeom prst="rect">
              <a:avLst/>
            </a:prstGeom>
          </p:spPr>
          <p:txBody>
            <a:bodyPr lIns="0" tIns="0" rIns="0" bIns="0" rtlCol="0" anchor="t">
              <a:spAutoFit/>
            </a:bodyPr>
            <a:lstStyle/>
            <a:p>
              <a:pPr marL="0" lvl="0" indent="0" algn="l">
                <a:lnSpc>
                  <a:spcPts val="8800"/>
                </a:lnSpc>
              </a:pPr>
              <a:r>
                <a:rPr lang="en-US" sz="8000" b="1" dirty="0">
                  <a:solidFill>
                    <a:srgbClr val="A8C0F0"/>
                  </a:solidFill>
                  <a:latin typeface="Poppins Bold"/>
                  <a:ea typeface="Poppins Bold"/>
                  <a:cs typeface="Poppins Bold"/>
                  <a:sym typeface="Poppins Bold"/>
                </a:rPr>
                <a:t>Thank You</a:t>
              </a:r>
            </a:p>
          </p:txBody>
        </p:sp>
        <p:sp>
          <p:nvSpPr>
            <p:cNvPr id="15" name="TextBox 15"/>
            <p:cNvSpPr txBox="1"/>
            <p:nvPr/>
          </p:nvSpPr>
          <p:spPr>
            <a:xfrm>
              <a:off x="0" y="1887636"/>
              <a:ext cx="9182100" cy="1308100"/>
            </a:xfrm>
            <a:prstGeom prst="rect">
              <a:avLst/>
            </a:prstGeom>
          </p:spPr>
          <p:txBody>
            <a:bodyPr lIns="0" tIns="0" rIns="0" bIns="0" rtlCol="0" anchor="t">
              <a:spAutoFit/>
            </a:bodyPr>
            <a:lstStyle/>
            <a:p>
              <a:pPr marL="0" lvl="0" indent="0" algn="l">
                <a:lnSpc>
                  <a:spcPts val="3900"/>
                </a:lnSpc>
              </a:pPr>
              <a:r>
                <a:rPr lang="en-US" sz="3000" dirty="0">
                  <a:solidFill>
                    <a:srgbClr val="9FBFEC"/>
                  </a:solidFill>
                  <a:latin typeface="Proxima Nova"/>
                  <a:ea typeface="Proxima Nova"/>
                  <a:cs typeface="Proxima Nova"/>
                  <a:sym typeface="Proxima Nova"/>
                </a:rPr>
                <a:t>We appreciate your attention and welcome your questions</a:t>
              </a: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549</Words>
  <Application>Microsoft Office PowerPoint</Application>
  <PresentationFormat>Custom</PresentationFormat>
  <Paragraphs>63</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Proxima Nova</vt:lpstr>
      <vt:lpstr>Proxima Nova Bold</vt:lpstr>
      <vt:lpstr>Calibri</vt:lpstr>
      <vt:lpstr>Poppins Bold</vt: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ASURE: Trust Verified</dc:title>
  <dc:description>Presentation - ASURE: Trust Verified</dc:description>
  <cp:lastModifiedBy>Ahnaf Akib</cp:lastModifiedBy>
  <cp:revision>4</cp:revision>
  <dcterms:created xsi:type="dcterms:W3CDTF">2006-08-16T00:00:00Z</dcterms:created>
  <dcterms:modified xsi:type="dcterms:W3CDTF">2025-12-15T03:52:12Z</dcterms:modified>
  <dc:identifier>DAG7ga4MEIE</dc:identifier>
</cp:coreProperties>
</file>