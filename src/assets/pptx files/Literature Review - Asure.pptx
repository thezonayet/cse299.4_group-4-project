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libri" panose="020F0502020204030204" pitchFamily="34" charset="0"/>
      <p:regular r:id="rId9"/>
      <p:bold r:id="rId10"/>
      <p:italic r:id="rId11"/>
      <p:boldItalic r:id="rId12"/>
    </p:embeddedFont>
    <p:embeddedFont>
      <p:font typeface="Carlito" panose="020B0604020202020204" charset="0"/>
      <p:regular r:id="rId13"/>
    </p:embeddedFont>
    <p:embeddedFont>
      <p:font typeface="Carlito Bold" panose="020B0604020202020204" charset="0"/>
      <p:regular r:id="rId14"/>
    </p:embeddedFont>
    <p:embeddedFont>
      <p:font typeface="Radley" panose="020B0604020202020204" charset="0"/>
      <p:regular r:id="rId15"/>
    </p:embeddedFont>
    <p:embeddedFont>
      <p:font typeface="Radley Italic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6176053" y="3352800"/>
            <a:ext cx="8324850" cy="6934200"/>
            <a:chOff x="0" y="0"/>
            <a:chExt cx="1289737" cy="1074289"/>
          </a:xfrm>
        </p:grpSpPr>
        <p:sp>
          <p:nvSpPr>
            <p:cNvPr id="3" name="Freeform 3"/>
            <p:cNvSpPr/>
            <p:nvPr/>
          </p:nvSpPr>
          <p:spPr>
            <a:xfrm>
              <a:off x="0" y="0"/>
              <a:ext cx="1289737" cy="1074289"/>
            </a:xfrm>
            <a:custGeom>
              <a:avLst/>
              <a:gdLst/>
              <a:ahLst/>
              <a:cxnLst/>
              <a:rect l="l" t="t" r="r" b="b"/>
              <a:pathLst>
                <a:path w="1289737" h="1074289">
                  <a:moveTo>
                    <a:pt x="0" y="0"/>
                  </a:moveTo>
                  <a:lnTo>
                    <a:pt x="1289737" y="0"/>
                  </a:lnTo>
                  <a:lnTo>
                    <a:pt x="1289737" y="1074289"/>
                  </a:lnTo>
                  <a:lnTo>
                    <a:pt x="0" y="1074289"/>
                  </a:lnTo>
                  <a:close/>
                </a:path>
              </a:pathLst>
            </a:custGeom>
            <a:blipFill>
              <a:blip r:embed="rId2"/>
              <a:stretch>
                <a:fillRect t="-10027" b="-10027"/>
              </a:stretch>
            </a:blipFill>
          </p:spPr>
        </p:sp>
      </p:grpSp>
      <p:grpSp>
        <p:nvGrpSpPr>
          <p:cNvPr id="4" name="Group 4"/>
          <p:cNvGrpSpPr/>
          <p:nvPr/>
        </p:nvGrpSpPr>
        <p:grpSpPr>
          <a:xfrm>
            <a:off x="666750" y="666750"/>
            <a:ext cx="16954500" cy="2172955"/>
            <a:chOff x="0" y="0"/>
            <a:chExt cx="22606000" cy="2897274"/>
          </a:xfrm>
        </p:grpSpPr>
        <p:sp>
          <p:nvSpPr>
            <p:cNvPr id="5" name="AutoShape 5"/>
            <p:cNvSpPr/>
            <p:nvPr/>
          </p:nvSpPr>
          <p:spPr>
            <a:xfrm>
              <a:off x="0" y="2884574"/>
              <a:ext cx="22606000" cy="0"/>
            </a:xfrm>
            <a:prstGeom prst="line">
              <a:avLst/>
            </a:prstGeom>
            <a:ln w="25400" cap="flat">
              <a:solidFill>
                <a:srgbClr val="F0F4F8"/>
              </a:solidFill>
              <a:prstDash val="solid"/>
              <a:headEnd type="none" w="sm" len="sm"/>
              <a:tailEnd type="none" w="sm" len="sm"/>
            </a:ln>
          </p:spPr>
        </p:sp>
        <p:sp>
          <p:nvSpPr>
            <p:cNvPr id="6" name="TextBox 6"/>
            <p:cNvSpPr txBox="1"/>
            <p:nvPr/>
          </p:nvSpPr>
          <p:spPr>
            <a:xfrm>
              <a:off x="0" y="266700"/>
              <a:ext cx="22606000" cy="2630574"/>
            </a:xfrm>
            <a:prstGeom prst="rect">
              <a:avLst/>
            </a:prstGeom>
          </p:spPr>
          <p:txBody>
            <a:bodyPr lIns="0" tIns="0" rIns="0" bIns="0" rtlCol="0" anchor="t">
              <a:spAutoFit/>
            </a:bodyPr>
            <a:lstStyle/>
            <a:p>
              <a:pPr marL="0" lvl="0" indent="0" algn="ctr">
                <a:lnSpc>
                  <a:spcPts val="14299"/>
                </a:lnSpc>
              </a:pPr>
              <a:r>
                <a:rPr lang="en-US" sz="14299" u="none" spc="-285">
                  <a:solidFill>
                    <a:srgbClr val="F0F4F8"/>
                  </a:solidFill>
                  <a:latin typeface="Radley"/>
                  <a:ea typeface="Radley"/>
                  <a:cs typeface="Radley"/>
                  <a:sym typeface="Radley"/>
                </a:rPr>
                <a:t>Asure</a:t>
              </a:r>
            </a:p>
          </p:txBody>
        </p:sp>
      </p:grpSp>
      <p:sp>
        <p:nvSpPr>
          <p:cNvPr id="7" name="TextBox 7"/>
          <p:cNvSpPr txBox="1"/>
          <p:nvPr/>
        </p:nvSpPr>
        <p:spPr>
          <a:xfrm>
            <a:off x="13611225" y="8961121"/>
            <a:ext cx="4010025" cy="659129"/>
          </a:xfrm>
          <a:prstGeom prst="rect">
            <a:avLst/>
          </a:prstGeom>
        </p:spPr>
        <p:txBody>
          <a:bodyPr lIns="0" tIns="0" rIns="0" bIns="0" rtlCol="0" anchor="t">
            <a:spAutoFit/>
          </a:bodyPr>
          <a:lstStyle/>
          <a:p>
            <a:pPr algn="r">
              <a:lnSpc>
                <a:spcPts val="2520"/>
              </a:lnSpc>
            </a:pPr>
            <a:r>
              <a:rPr lang="en-US" sz="1800" spc="239">
                <a:solidFill>
                  <a:srgbClr val="F0F4F8"/>
                </a:solidFill>
                <a:latin typeface="Carlito"/>
                <a:ea typeface="Carlito"/>
                <a:cs typeface="Carlito"/>
                <a:sym typeface="Carlito"/>
              </a:rPr>
              <a:t>CSE299</a:t>
            </a:r>
          </a:p>
          <a:p>
            <a:pPr marL="0" lvl="0" indent="0" algn="r">
              <a:lnSpc>
                <a:spcPts val="2520"/>
              </a:lnSpc>
              <a:spcBef>
                <a:spcPct val="0"/>
              </a:spcBef>
            </a:pPr>
            <a:r>
              <a:rPr lang="en-US" sz="1800" spc="239">
                <a:solidFill>
                  <a:srgbClr val="F0F4F8"/>
                </a:solidFill>
                <a:latin typeface="Carlito"/>
                <a:ea typeface="Carlito"/>
                <a:cs typeface="Carlito"/>
                <a:sym typeface="Carlito"/>
              </a:rPr>
              <a:t>SECTION:04</a:t>
            </a:r>
          </a:p>
        </p:txBody>
      </p:sp>
      <p:sp>
        <p:nvSpPr>
          <p:cNvPr id="8" name="TextBox 8"/>
          <p:cNvSpPr txBox="1"/>
          <p:nvPr/>
        </p:nvSpPr>
        <p:spPr>
          <a:xfrm>
            <a:off x="511919" y="6772275"/>
            <a:ext cx="5465649" cy="2836545"/>
          </a:xfrm>
          <a:prstGeom prst="rect">
            <a:avLst/>
          </a:prstGeom>
        </p:spPr>
        <p:txBody>
          <a:bodyPr lIns="0" tIns="0" rIns="0" bIns="0" rtlCol="0" anchor="t">
            <a:spAutoFit/>
          </a:bodyPr>
          <a:lstStyle/>
          <a:p>
            <a:pPr algn="l">
              <a:lnSpc>
                <a:spcPts val="3779"/>
              </a:lnSpc>
            </a:pPr>
            <a:r>
              <a:rPr lang="en-US" sz="2699">
                <a:solidFill>
                  <a:srgbClr val="F0F4F8"/>
                </a:solidFill>
                <a:latin typeface="Radley"/>
                <a:ea typeface="Radley"/>
                <a:cs typeface="Radley"/>
                <a:sym typeface="Radley"/>
              </a:rPr>
              <a:t>Mohammad Zonayet Hassan Polok  (2031267642)</a:t>
            </a:r>
          </a:p>
          <a:p>
            <a:pPr algn="l">
              <a:lnSpc>
                <a:spcPts val="3779"/>
              </a:lnSpc>
            </a:pPr>
            <a:r>
              <a:rPr lang="en-US" sz="2699">
                <a:solidFill>
                  <a:srgbClr val="F0F4F8"/>
                </a:solidFill>
                <a:latin typeface="Radley"/>
                <a:ea typeface="Radley"/>
                <a:cs typeface="Radley"/>
                <a:sym typeface="Radley"/>
              </a:rPr>
              <a:t>Ahnaf Akib Ahmed  (2312304642)</a:t>
            </a:r>
          </a:p>
          <a:p>
            <a:pPr algn="l">
              <a:lnSpc>
                <a:spcPts val="3779"/>
              </a:lnSpc>
            </a:pPr>
            <a:r>
              <a:rPr lang="en-US" sz="2699">
                <a:solidFill>
                  <a:srgbClr val="F0F4F8"/>
                </a:solidFill>
                <a:latin typeface="Radley"/>
                <a:ea typeface="Radley"/>
                <a:cs typeface="Radley"/>
                <a:sym typeface="Radley"/>
              </a:rPr>
              <a:t>Tasmia Rashed Ramisha (2312131042) </a:t>
            </a:r>
          </a:p>
          <a:p>
            <a:pPr algn="l">
              <a:lnSpc>
                <a:spcPts val="3779"/>
              </a:lnSpc>
              <a:spcBef>
                <a:spcPct val="0"/>
              </a:spcBef>
            </a:pPr>
            <a:r>
              <a:rPr lang="en-US" sz="2699">
                <a:solidFill>
                  <a:srgbClr val="F0F4F8"/>
                </a:solidFill>
                <a:latin typeface="Radley"/>
                <a:ea typeface="Radley"/>
                <a:cs typeface="Radley"/>
                <a:sym typeface="Radley"/>
              </a:rPr>
              <a:t>Sumya akter(2111913642) </a:t>
            </a:r>
          </a:p>
        </p:txBody>
      </p:sp>
      <p:sp>
        <p:nvSpPr>
          <p:cNvPr id="9" name="TextBox 9"/>
          <p:cNvSpPr txBox="1"/>
          <p:nvPr/>
        </p:nvSpPr>
        <p:spPr>
          <a:xfrm>
            <a:off x="511919" y="5936445"/>
            <a:ext cx="3275178" cy="721031"/>
          </a:xfrm>
          <a:prstGeom prst="rect">
            <a:avLst/>
          </a:prstGeom>
        </p:spPr>
        <p:txBody>
          <a:bodyPr wrap="square" lIns="0" tIns="0" rIns="0" bIns="0" rtlCol="0" anchor="t">
            <a:spAutoFit/>
          </a:bodyPr>
          <a:lstStyle/>
          <a:p>
            <a:pPr>
              <a:lnSpc>
                <a:spcPts val="5879"/>
              </a:lnSpc>
              <a:spcBef>
                <a:spcPct val="0"/>
              </a:spcBef>
            </a:pPr>
            <a:r>
              <a:rPr lang="en-US" sz="4199" dirty="0">
                <a:solidFill>
                  <a:srgbClr val="F0F4F8"/>
                </a:solidFill>
                <a:latin typeface="Radley"/>
                <a:ea typeface="Radley"/>
                <a:cs typeface="Radley"/>
                <a:sym typeface="Radley"/>
              </a:rPr>
              <a:t>Group: 04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10429875" y="0"/>
            <a:ext cx="7858125" cy="10287000"/>
            <a:chOff x="0" y="0"/>
            <a:chExt cx="1217429" cy="1593725"/>
          </a:xfrm>
        </p:grpSpPr>
        <p:sp>
          <p:nvSpPr>
            <p:cNvPr id="3" name="Freeform 3"/>
            <p:cNvSpPr/>
            <p:nvPr/>
          </p:nvSpPr>
          <p:spPr>
            <a:xfrm>
              <a:off x="0" y="0"/>
              <a:ext cx="1217429" cy="1593725"/>
            </a:xfrm>
            <a:custGeom>
              <a:avLst/>
              <a:gdLst/>
              <a:ahLst/>
              <a:cxnLst/>
              <a:rect l="l" t="t" r="r" b="b"/>
              <a:pathLst>
                <a:path w="1217429" h="1593725">
                  <a:moveTo>
                    <a:pt x="0" y="0"/>
                  </a:moveTo>
                  <a:lnTo>
                    <a:pt x="1217429" y="0"/>
                  </a:lnTo>
                  <a:lnTo>
                    <a:pt x="1217429" y="1593725"/>
                  </a:lnTo>
                  <a:lnTo>
                    <a:pt x="0" y="1593725"/>
                  </a:lnTo>
                  <a:close/>
                </a:path>
              </a:pathLst>
            </a:custGeom>
            <a:blipFill>
              <a:blip r:embed="rId2"/>
              <a:stretch>
                <a:fillRect t="-255" b="-255"/>
              </a:stretch>
            </a:blipFill>
          </p:spPr>
        </p:sp>
      </p:grpSp>
      <p:grpSp>
        <p:nvGrpSpPr>
          <p:cNvPr id="4" name="Group 4"/>
          <p:cNvGrpSpPr/>
          <p:nvPr/>
        </p:nvGrpSpPr>
        <p:grpSpPr>
          <a:xfrm>
            <a:off x="495300" y="666755"/>
            <a:ext cx="9763125" cy="8320854"/>
            <a:chOff x="0" y="0"/>
            <a:chExt cx="13017500" cy="11094472"/>
          </a:xfrm>
        </p:grpSpPr>
        <p:sp>
          <p:nvSpPr>
            <p:cNvPr id="5" name="TextBox 5"/>
            <p:cNvSpPr txBox="1"/>
            <p:nvPr/>
          </p:nvSpPr>
          <p:spPr>
            <a:xfrm>
              <a:off x="35546" y="76200"/>
              <a:ext cx="12981954" cy="3618531"/>
            </a:xfrm>
            <a:prstGeom prst="rect">
              <a:avLst/>
            </a:prstGeom>
          </p:spPr>
          <p:txBody>
            <a:bodyPr lIns="0" tIns="0" rIns="0" bIns="0" rtlCol="0" anchor="t">
              <a:spAutoFit/>
            </a:bodyPr>
            <a:lstStyle/>
            <a:p>
              <a:pPr marL="0" lvl="0" indent="0" algn="l">
                <a:lnSpc>
                  <a:spcPts val="10585"/>
                </a:lnSpc>
                <a:spcBef>
                  <a:spcPct val="0"/>
                </a:spcBef>
              </a:pPr>
              <a:r>
                <a:rPr lang="en-US" sz="9451" i="1">
                  <a:solidFill>
                    <a:srgbClr val="F0F4F8"/>
                  </a:solidFill>
                  <a:latin typeface="Radley Italics"/>
                  <a:ea typeface="Radley Italics"/>
                  <a:cs typeface="Radley Italics"/>
                  <a:sym typeface="Radley Italics"/>
                </a:rPr>
                <a:t>The Need for Innovation</a:t>
              </a:r>
            </a:p>
          </p:txBody>
        </p:sp>
        <p:sp>
          <p:nvSpPr>
            <p:cNvPr id="6" name="TextBox 6"/>
            <p:cNvSpPr txBox="1"/>
            <p:nvPr/>
          </p:nvSpPr>
          <p:spPr>
            <a:xfrm>
              <a:off x="35546" y="5007088"/>
              <a:ext cx="12981954" cy="1886232"/>
            </a:xfrm>
            <a:prstGeom prst="rect">
              <a:avLst/>
            </a:prstGeom>
          </p:spPr>
          <p:txBody>
            <a:bodyPr lIns="0" tIns="0" rIns="0" bIns="0" rtlCol="0" anchor="t">
              <a:spAutoFit/>
            </a:bodyPr>
            <a:lstStyle/>
            <a:p>
              <a:pPr marL="0" lvl="0" indent="0" algn="l">
                <a:lnSpc>
                  <a:spcPts val="5670"/>
                </a:lnSpc>
                <a:spcBef>
                  <a:spcPct val="0"/>
                </a:spcBef>
              </a:pPr>
              <a:r>
                <a:rPr lang="en-US" sz="4725" u="none">
                  <a:solidFill>
                    <a:srgbClr val="F0F4F8"/>
                  </a:solidFill>
                  <a:latin typeface="Radley"/>
                  <a:ea typeface="Radley"/>
                  <a:cs typeface="Radley"/>
                  <a:sym typeface="Radley"/>
                </a:rPr>
                <a:t>Addressing the Challenges of Digital Credential Verification Systems</a:t>
              </a:r>
            </a:p>
          </p:txBody>
        </p:sp>
        <p:sp>
          <p:nvSpPr>
            <p:cNvPr id="7" name="AutoShape 7"/>
            <p:cNvSpPr/>
            <p:nvPr/>
          </p:nvSpPr>
          <p:spPr>
            <a:xfrm>
              <a:off x="0" y="4350909"/>
              <a:ext cx="12981954" cy="0"/>
            </a:xfrm>
            <a:prstGeom prst="line">
              <a:avLst/>
            </a:prstGeom>
            <a:ln w="34295" cap="flat">
              <a:solidFill>
                <a:srgbClr val="F0F4F8"/>
              </a:solidFill>
              <a:prstDash val="solid"/>
              <a:headEnd type="none" w="sm" len="sm"/>
              <a:tailEnd type="none" w="sm" len="sm"/>
            </a:ln>
          </p:spPr>
        </p:sp>
        <p:sp>
          <p:nvSpPr>
            <p:cNvPr id="8" name="TextBox 8"/>
            <p:cNvSpPr txBox="1"/>
            <p:nvPr/>
          </p:nvSpPr>
          <p:spPr>
            <a:xfrm>
              <a:off x="35546" y="7744990"/>
              <a:ext cx="12946408" cy="3349482"/>
            </a:xfrm>
            <a:prstGeom prst="rect">
              <a:avLst/>
            </a:prstGeom>
          </p:spPr>
          <p:txBody>
            <a:bodyPr lIns="0" tIns="0" rIns="0" bIns="0" rtlCol="0" anchor="t">
              <a:spAutoFit/>
            </a:bodyPr>
            <a:lstStyle/>
            <a:p>
              <a:pPr marL="0" lvl="0" indent="0" algn="l">
                <a:lnSpc>
                  <a:spcPts val="3240"/>
                </a:lnSpc>
              </a:pPr>
              <a:r>
                <a:rPr lang="en-US" sz="2700">
                  <a:solidFill>
                    <a:srgbClr val="F0F4F8"/>
                  </a:solidFill>
                  <a:latin typeface="Carlito"/>
                  <a:ea typeface="Carlito"/>
                  <a:cs typeface="Carlito"/>
                  <a:sym typeface="Carlito"/>
                </a:rPr>
                <a:t>Asure recognizes the </a:t>
              </a:r>
              <a:r>
                <a:rPr lang="en-US" sz="2700" b="1">
                  <a:solidFill>
                    <a:srgbClr val="F0F4F8"/>
                  </a:solidFill>
                  <a:latin typeface="Carlito Bold"/>
                  <a:ea typeface="Carlito Bold"/>
                  <a:cs typeface="Carlito Bold"/>
                  <a:sym typeface="Carlito Bold"/>
                </a:rPr>
                <a:t>urgent need</a:t>
              </a:r>
              <a:r>
                <a:rPr lang="en-US" sz="2700">
                  <a:solidFill>
                    <a:srgbClr val="F0F4F8"/>
                  </a:solidFill>
                  <a:latin typeface="Carlito"/>
                  <a:ea typeface="Carlito"/>
                  <a:cs typeface="Carlito"/>
                  <a:sym typeface="Carlito"/>
                </a:rPr>
                <a:t> for a comprehensive solution to combat the rise of fake credentials and inadequate learning recommendations. Current systems fall short, addressing only parts of the problem. With our dual focus on AI Verification and High-Trust Learning, we aim to create a more reliable and effective integrated platform.</a:t>
              </a:r>
            </a:p>
          </p:txBody>
        </p:sp>
      </p:grpSp>
      <p:grpSp>
        <p:nvGrpSpPr>
          <p:cNvPr id="9" name="Group 9"/>
          <p:cNvGrpSpPr/>
          <p:nvPr/>
        </p:nvGrpSpPr>
        <p:grpSpPr>
          <a:xfrm>
            <a:off x="666750" y="9184102"/>
            <a:ext cx="2171730" cy="2205796"/>
            <a:chOff x="0" y="0"/>
            <a:chExt cx="812800" cy="825500"/>
          </a:xfrm>
        </p:grpSpPr>
        <p:sp>
          <p:nvSpPr>
            <p:cNvPr id="10" name="Freeform 10"/>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0F4F8"/>
            </a:solidFill>
          </p:spPr>
        </p:sp>
        <p:sp>
          <p:nvSpPr>
            <p:cNvPr id="11" name="TextBox 11"/>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619125" y="3788944"/>
            <a:ext cx="5132980" cy="3816308"/>
            <a:chOff x="0" y="0"/>
            <a:chExt cx="6843973" cy="5088410"/>
          </a:xfrm>
        </p:grpSpPr>
        <p:sp>
          <p:nvSpPr>
            <p:cNvPr id="3" name="TextBox 3"/>
            <p:cNvSpPr txBox="1"/>
            <p:nvPr/>
          </p:nvSpPr>
          <p:spPr>
            <a:xfrm>
              <a:off x="0" y="-66675"/>
              <a:ext cx="6843973" cy="731432"/>
            </a:xfrm>
            <a:prstGeom prst="rect">
              <a:avLst/>
            </a:prstGeom>
          </p:spPr>
          <p:txBody>
            <a:bodyPr lIns="0" tIns="0" rIns="0" bIns="0" rtlCol="0" anchor="t">
              <a:spAutoFit/>
            </a:bodyPr>
            <a:lstStyle/>
            <a:p>
              <a:pPr marL="0" lvl="0" indent="0" algn="l">
                <a:lnSpc>
                  <a:spcPts val="3997"/>
                </a:lnSpc>
                <a:spcBef>
                  <a:spcPct val="0"/>
                </a:spcBef>
              </a:pPr>
              <a:r>
                <a:rPr lang="en-US" sz="3330" b="1" u="none" strike="noStrike">
                  <a:solidFill>
                    <a:srgbClr val="F0F4F8"/>
                  </a:solidFill>
                  <a:latin typeface="Carlito Bold"/>
                  <a:ea typeface="Carlito Bold"/>
                  <a:cs typeface="Carlito Bold"/>
                  <a:sym typeface="Carlito Bold"/>
                </a:rPr>
                <a:t>CertiCheck Vulnerabilities</a:t>
              </a:r>
            </a:p>
          </p:txBody>
        </p:sp>
        <p:sp>
          <p:nvSpPr>
            <p:cNvPr id="4" name="TextBox 4"/>
            <p:cNvSpPr txBox="1"/>
            <p:nvPr/>
          </p:nvSpPr>
          <p:spPr>
            <a:xfrm>
              <a:off x="0" y="1334437"/>
              <a:ext cx="6843973" cy="3753973"/>
            </a:xfrm>
            <a:prstGeom prst="rect">
              <a:avLst/>
            </a:prstGeom>
          </p:spPr>
          <p:txBody>
            <a:bodyPr lIns="0" tIns="0" rIns="0" bIns="0" rtlCol="0" anchor="t">
              <a:spAutoFit/>
            </a:bodyPr>
            <a:lstStyle/>
            <a:p>
              <a:pPr marL="0" lvl="0" indent="0" algn="l">
                <a:lnSpc>
                  <a:spcPts val="3711"/>
                </a:lnSpc>
                <a:spcBef>
                  <a:spcPct val="0"/>
                </a:spcBef>
              </a:pPr>
              <a:r>
                <a:rPr lang="en-US" sz="2855" u="none" strike="noStrike">
                  <a:solidFill>
                    <a:srgbClr val="F0F4F8"/>
                  </a:solidFill>
                  <a:latin typeface="Carlito"/>
                  <a:ea typeface="Carlito"/>
                  <a:cs typeface="Carlito"/>
                  <a:sym typeface="Carlito"/>
                </a:rPr>
                <a:t>CertiCheck relies on basic database lookups, making it </a:t>
              </a:r>
              <a:r>
                <a:rPr lang="en-US" sz="2855" b="1" u="none" strike="noStrike">
                  <a:solidFill>
                    <a:srgbClr val="F0F4F8"/>
                  </a:solidFill>
                  <a:latin typeface="Carlito Bold"/>
                  <a:ea typeface="Carlito Bold"/>
                  <a:cs typeface="Carlito Bold"/>
                  <a:sym typeface="Carlito Bold"/>
                </a:rPr>
                <a:t>vulnerable to visual fraud</a:t>
              </a:r>
              <a:r>
                <a:rPr lang="en-US" sz="2855" u="none" strike="noStrike">
                  <a:solidFill>
                    <a:srgbClr val="F0F4F8"/>
                  </a:solidFill>
                  <a:latin typeface="Carlito"/>
                  <a:ea typeface="Carlito"/>
                  <a:cs typeface="Carlito"/>
                  <a:sym typeface="Carlito"/>
                </a:rPr>
                <a:t>, as it cannot effectively validate credentials beyond superficial checks.</a:t>
              </a:r>
            </a:p>
          </p:txBody>
        </p:sp>
      </p:grpSp>
      <p:grpSp>
        <p:nvGrpSpPr>
          <p:cNvPr id="5" name="Group 5"/>
          <p:cNvGrpSpPr/>
          <p:nvPr/>
        </p:nvGrpSpPr>
        <p:grpSpPr>
          <a:xfrm>
            <a:off x="6788898" y="3788944"/>
            <a:ext cx="5132980" cy="3816308"/>
            <a:chOff x="0" y="0"/>
            <a:chExt cx="6843973" cy="5088410"/>
          </a:xfrm>
        </p:grpSpPr>
        <p:sp>
          <p:nvSpPr>
            <p:cNvPr id="6" name="TextBox 6"/>
            <p:cNvSpPr txBox="1"/>
            <p:nvPr/>
          </p:nvSpPr>
          <p:spPr>
            <a:xfrm>
              <a:off x="0" y="-66675"/>
              <a:ext cx="6843973" cy="731432"/>
            </a:xfrm>
            <a:prstGeom prst="rect">
              <a:avLst/>
            </a:prstGeom>
          </p:spPr>
          <p:txBody>
            <a:bodyPr lIns="0" tIns="0" rIns="0" bIns="0" rtlCol="0" anchor="t">
              <a:spAutoFit/>
            </a:bodyPr>
            <a:lstStyle/>
            <a:p>
              <a:pPr marL="0" lvl="0" indent="0" algn="l">
                <a:lnSpc>
                  <a:spcPts val="3997"/>
                </a:lnSpc>
                <a:spcBef>
                  <a:spcPct val="0"/>
                </a:spcBef>
              </a:pPr>
              <a:r>
                <a:rPr lang="en-US" sz="3330" b="1" u="none" strike="noStrike">
                  <a:solidFill>
                    <a:srgbClr val="F0F4F8"/>
                  </a:solidFill>
                  <a:latin typeface="Carlito Bold"/>
                  <a:ea typeface="Carlito Bold"/>
                  <a:cs typeface="Carlito Bold"/>
                  <a:sym typeface="Carlito Bold"/>
                </a:rPr>
                <a:t>MediGuard Limitations</a:t>
              </a:r>
            </a:p>
          </p:txBody>
        </p:sp>
        <p:sp>
          <p:nvSpPr>
            <p:cNvPr id="7" name="TextBox 7"/>
            <p:cNvSpPr txBox="1"/>
            <p:nvPr/>
          </p:nvSpPr>
          <p:spPr>
            <a:xfrm>
              <a:off x="0" y="1334437"/>
              <a:ext cx="6843973" cy="3753973"/>
            </a:xfrm>
            <a:prstGeom prst="rect">
              <a:avLst/>
            </a:prstGeom>
          </p:spPr>
          <p:txBody>
            <a:bodyPr lIns="0" tIns="0" rIns="0" bIns="0" rtlCol="0" anchor="t">
              <a:spAutoFit/>
            </a:bodyPr>
            <a:lstStyle/>
            <a:p>
              <a:pPr marL="0" lvl="0" indent="0" algn="l">
                <a:lnSpc>
                  <a:spcPts val="3711"/>
                </a:lnSpc>
                <a:spcBef>
                  <a:spcPct val="0"/>
                </a:spcBef>
              </a:pPr>
              <a:r>
                <a:rPr lang="en-US" sz="2855" u="none" strike="noStrike">
                  <a:solidFill>
                    <a:srgbClr val="F0F4F8"/>
                  </a:solidFill>
                  <a:latin typeface="Carlito"/>
                  <a:ea typeface="Carlito"/>
                  <a:cs typeface="Carlito"/>
                  <a:sym typeface="Carlito"/>
                </a:rPr>
                <a:t>MediGuard employs a rule-based approach, which is </a:t>
              </a:r>
              <a:r>
                <a:rPr lang="en-US" sz="2855" b="1" u="none" strike="noStrike">
                  <a:solidFill>
                    <a:srgbClr val="F0F4F8"/>
                  </a:solidFill>
                  <a:latin typeface="Carlito Bold"/>
                  <a:ea typeface="Carlito Bold"/>
                  <a:cs typeface="Carlito Bold"/>
                  <a:sym typeface="Carlito Bold"/>
                </a:rPr>
                <a:t>inflexible to complex fraud types</a:t>
              </a:r>
              <a:r>
                <a:rPr lang="en-US" sz="2855" u="none" strike="noStrike">
                  <a:solidFill>
                    <a:srgbClr val="F0F4F8"/>
                  </a:solidFill>
                  <a:latin typeface="Carlito"/>
                  <a:ea typeface="Carlito"/>
                  <a:cs typeface="Carlito"/>
                  <a:sym typeface="Carlito"/>
                </a:rPr>
                <a:t> and fails to adapt to evolving methods used by fraudsters in credential verification.</a:t>
              </a:r>
            </a:p>
          </p:txBody>
        </p:sp>
      </p:grpSp>
      <p:grpSp>
        <p:nvGrpSpPr>
          <p:cNvPr id="8" name="Group 8"/>
          <p:cNvGrpSpPr/>
          <p:nvPr/>
        </p:nvGrpSpPr>
        <p:grpSpPr>
          <a:xfrm>
            <a:off x="12964337" y="3788944"/>
            <a:ext cx="5132980" cy="4745456"/>
            <a:chOff x="0" y="0"/>
            <a:chExt cx="6843973" cy="6327275"/>
          </a:xfrm>
        </p:grpSpPr>
        <p:sp>
          <p:nvSpPr>
            <p:cNvPr id="9" name="TextBox 9"/>
            <p:cNvSpPr txBox="1"/>
            <p:nvPr/>
          </p:nvSpPr>
          <p:spPr>
            <a:xfrm>
              <a:off x="0" y="-66675"/>
              <a:ext cx="6843973" cy="731432"/>
            </a:xfrm>
            <a:prstGeom prst="rect">
              <a:avLst/>
            </a:prstGeom>
          </p:spPr>
          <p:txBody>
            <a:bodyPr lIns="0" tIns="0" rIns="0" bIns="0" rtlCol="0" anchor="t">
              <a:spAutoFit/>
            </a:bodyPr>
            <a:lstStyle/>
            <a:p>
              <a:pPr marL="0" lvl="0" indent="0" algn="l">
                <a:lnSpc>
                  <a:spcPts val="3997"/>
                </a:lnSpc>
                <a:spcBef>
                  <a:spcPct val="0"/>
                </a:spcBef>
              </a:pPr>
              <a:r>
                <a:rPr lang="en-US" sz="3330" b="1" u="none" strike="noStrike">
                  <a:solidFill>
                    <a:srgbClr val="F0F4F8"/>
                  </a:solidFill>
                  <a:latin typeface="Carlito Bold"/>
                  <a:ea typeface="Carlito Bold"/>
                  <a:cs typeface="Carlito Bold"/>
                  <a:sym typeface="Carlito Bold"/>
                </a:rPr>
                <a:t>Asure’s Double-Check</a:t>
              </a:r>
            </a:p>
          </p:txBody>
        </p:sp>
        <p:sp>
          <p:nvSpPr>
            <p:cNvPr id="10" name="TextBox 10"/>
            <p:cNvSpPr txBox="1"/>
            <p:nvPr/>
          </p:nvSpPr>
          <p:spPr>
            <a:xfrm>
              <a:off x="0" y="1334437"/>
              <a:ext cx="6843973" cy="4992838"/>
            </a:xfrm>
            <a:prstGeom prst="rect">
              <a:avLst/>
            </a:prstGeom>
          </p:spPr>
          <p:txBody>
            <a:bodyPr lIns="0" tIns="0" rIns="0" bIns="0" rtlCol="0" anchor="t">
              <a:spAutoFit/>
            </a:bodyPr>
            <a:lstStyle/>
            <a:p>
              <a:pPr marL="0" lvl="0" indent="0" algn="l">
                <a:lnSpc>
                  <a:spcPts val="3711"/>
                </a:lnSpc>
                <a:spcBef>
                  <a:spcPct val="0"/>
                </a:spcBef>
              </a:pPr>
              <a:r>
                <a:rPr lang="en-US" sz="2855" u="none" strike="noStrike">
                  <a:solidFill>
                    <a:srgbClr val="F0F4F8"/>
                  </a:solidFill>
                  <a:latin typeface="Carlito"/>
                  <a:ea typeface="Carlito"/>
                  <a:cs typeface="Carlito"/>
                  <a:sym typeface="Carlito"/>
                </a:rPr>
                <a:t>Asure’s innovative Double-Check System combines </a:t>
              </a:r>
              <a:r>
                <a:rPr lang="en-US" sz="2855" b="1" u="none" strike="noStrike">
                  <a:solidFill>
                    <a:srgbClr val="F0F4F8"/>
                  </a:solidFill>
                  <a:latin typeface="Carlito Bold"/>
                  <a:ea typeface="Carlito Bold"/>
                  <a:cs typeface="Carlito Bold"/>
                  <a:sym typeface="Carlito Bold"/>
                </a:rPr>
                <a:t>rapid database validation with advanced AI image analysis</a:t>
              </a:r>
              <a:r>
                <a:rPr lang="en-US" sz="2855" u="none" strike="noStrike">
                  <a:solidFill>
                    <a:srgbClr val="F0F4F8"/>
                  </a:solidFill>
                  <a:latin typeface="Carlito"/>
                  <a:ea typeface="Carlito"/>
                  <a:cs typeface="Carlito"/>
                  <a:sym typeface="Carlito"/>
                </a:rPr>
                <a:t>, effectively preventing sophisticated visual fraud through thorough authenticity scoring and tampering detection.</a:t>
              </a:r>
            </a:p>
          </p:txBody>
        </p:sp>
      </p:grpSp>
      <p:grpSp>
        <p:nvGrpSpPr>
          <p:cNvPr id="11" name="Group 11"/>
          <p:cNvGrpSpPr/>
          <p:nvPr/>
        </p:nvGrpSpPr>
        <p:grpSpPr>
          <a:xfrm>
            <a:off x="666750" y="666750"/>
            <a:ext cx="16200065" cy="2247427"/>
            <a:chOff x="0" y="0"/>
            <a:chExt cx="21600087" cy="2996569"/>
          </a:xfrm>
        </p:grpSpPr>
        <p:sp>
          <p:nvSpPr>
            <p:cNvPr id="12" name="TextBox 12"/>
            <p:cNvSpPr txBox="1"/>
            <p:nvPr/>
          </p:nvSpPr>
          <p:spPr>
            <a:xfrm>
              <a:off x="0" y="171450"/>
              <a:ext cx="21600087" cy="1603391"/>
            </a:xfrm>
            <a:prstGeom prst="rect">
              <a:avLst/>
            </a:prstGeom>
          </p:spPr>
          <p:txBody>
            <a:bodyPr lIns="0" tIns="0" rIns="0" bIns="0" rtlCol="0" anchor="t">
              <a:spAutoFit/>
            </a:bodyPr>
            <a:lstStyle/>
            <a:p>
              <a:pPr marL="0" lvl="0" indent="0" algn="l">
                <a:lnSpc>
                  <a:spcPts val="8760"/>
                </a:lnSpc>
              </a:pPr>
              <a:r>
                <a:rPr lang="en-US" sz="8760">
                  <a:solidFill>
                    <a:srgbClr val="F0F4F8"/>
                  </a:solidFill>
                  <a:latin typeface="Radley"/>
                  <a:ea typeface="Radley"/>
                  <a:cs typeface="Radley"/>
                  <a:sym typeface="Radley"/>
                </a:rPr>
                <a:t>Digital Trust Comparison</a:t>
              </a:r>
            </a:p>
          </p:txBody>
        </p:sp>
        <p:sp>
          <p:nvSpPr>
            <p:cNvPr id="13" name="TextBox 13"/>
            <p:cNvSpPr txBox="1"/>
            <p:nvPr/>
          </p:nvSpPr>
          <p:spPr>
            <a:xfrm>
              <a:off x="0" y="2212551"/>
              <a:ext cx="21600087" cy="784018"/>
            </a:xfrm>
            <a:prstGeom prst="rect">
              <a:avLst/>
            </a:prstGeom>
          </p:spPr>
          <p:txBody>
            <a:bodyPr lIns="0" tIns="0" rIns="0" bIns="0" rtlCol="0" anchor="t">
              <a:spAutoFit/>
            </a:bodyPr>
            <a:lstStyle/>
            <a:p>
              <a:pPr marL="0" lvl="0" indent="0" algn="l">
                <a:lnSpc>
                  <a:spcPts val="4905"/>
                </a:lnSpc>
                <a:spcBef>
                  <a:spcPct val="0"/>
                </a:spcBef>
              </a:pPr>
              <a:r>
                <a:rPr lang="en-US" sz="3504" u="none" strike="noStrike">
                  <a:solidFill>
                    <a:srgbClr val="F0F4F8"/>
                  </a:solidFill>
                  <a:latin typeface="Radley"/>
                  <a:ea typeface="Radley"/>
                  <a:cs typeface="Radley"/>
                  <a:sym typeface="Radley"/>
                </a:rPr>
                <a:t>Existing Solutions vs. Asure’s Innovation</a:t>
              </a:r>
            </a:p>
          </p:txBody>
        </p:sp>
      </p:grpSp>
      <p:grpSp>
        <p:nvGrpSpPr>
          <p:cNvPr id="14" name="Group 14"/>
          <p:cNvGrpSpPr/>
          <p:nvPr/>
        </p:nvGrpSpPr>
        <p:grpSpPr>
          <a:xfrm>
            <a:off x="17202135" y="459202"/>
            <a:ext cx="2171730" cy="2205796"/>
            <a:chOff x="0" y="0"/>
            <a:chExt cx="812800" cy="825500"/>
          </a:xfrm>
        </p:grpSpPr>
        <p:sp>
          <p:nvSpPr>
            <p:cNvPr id="15" name="Freeform 15"/>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0F4F8"/>
            </a:solidFill>
          </p:spPr>
        </p:sp>
        <p:sp>
          <p:nvSpPr>
            <p:cNvPr id="16" name="TextBox 16"/>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10429875" y="0"/>
            <a:ext cx="7858125" cy="10287000"/>
            <a:chOff x="0" y="0"/>
            <a:chExt cx="1217429" cy="1593725"/>
          </a:xfrm>
        </p:grpSpPr>
        <p:sp>
          <p:nvSpPr>
            <p:cNvPr id="3" name="Freeform 3"/>
            <p:cNvSpPr/>
            <p:nvPr/>
          </p:nvSpPr>
          <p:spPr>
            <a:xfrm>
              <a:off x="0" y="0"/>
              <a:ext cx="1217429" cy="1593725"/>
            </a:xfrm>
            <a:custGeom>
              <a:avLst/>
              <a:gdLst/>
              <a:ahLst/>
              <a:cxnLst/>
              <a:rect l="l" t="t" r="r" b="b"/>
              <a:pathLst>
                <a:path w="1217429" h="1593725">
                  <a:moveTo>
                    <a:pt x="0" y="0"/>
                  </a:moveTo>
                  <a:lnTo>
                    <a:pt x="1217429" y="0"/>
                  </a:lnTo>
                  <a:lnTo>
                    <a:pt x="1217429" y="1593725"/>
                  </a:lnTo>
                  <a:lnTo>
                    <a:pt x="0" y="1593725"/>
                  </a:lnTo>
                  <a:close/>
                </a:path>
              </a:pathLst>
            </a:custGeom>
            <a:blipFill>
              <a:blip r:embed="rId2"/>
              <a:stretch>
                <a:fillRect t="-255" b="-255"/>
              </a:stretch>
            </a:blipFill>
          </p:spPr>
        </p:sp>
      </p:grpSp>
      <p:grpSp>
        <p:nvGrpSpPr>
          <p:cNvPr id="4" name="Group 4"/>
          <p:cNvGrpSpPr/>
          <p:nvPr/>
        </p:nvGrpSpPr>
        <p:grpSpPr>
          <a:xfrm>
            <a:off x="295275" y="333380"/>
            <a:ext cx="10039350" cy="7180922"/>
            <a:chOff x="0" y="0"/>
            <a:chExt cx="13385800" cy="9574562"/>
          </a:xfrm>
        </p:grpSpPr>
        <p:sp>
          <p:nvSpPr>
            <p:cNvPr id="5" name="TextBox 5"/>
            <p:cNvSpPr txBox="1"/>
            <p:nvPr/>
          </p:nvSpPr>
          <p:spPr>
            <a:xfrm>
              <a:off x="36552" y="76200"/>
              <a:ext cx="13349248" cy="1889263"/>
            </a:xfrm>
            <a:prstGeom prst="rect">
              <a:avLst/>
            </a:prstGeom>
          </p:spPr>
          <p:txBody>
            <a:bodyPr lIns="0" tIns="0" rIns="0" bIns="0" rtlCol="0" anchor="t">
              <a:spAutoFit/>
            </a:bodyPr>
            <a:lstStyle/>
            <a:p>
              <a:pPr marL="0" lvl="0" indent="0" algn="l">
                <a:lnSpc>
                  <a:spcPts val="10885"/>
                </a:lnSpc>
                <a:spcBef>
                  <a:spcPct val="0"/>
                </a:spcBef>
              </a:pPr>
              <a:r>
                <a:rPr lang="en-US" sz="9719" i="1">
                  <a:solidFill>
                    <a:srgbClr val="F0F4F8"/>
                  </a:solidFill>
                  <a:latin typeface="Radley Italics"/>
                  <a:ea typeface="Radley Italics"/>
                  <a:cs typeface="Radley Italics"/>
                  <a:sym typeface="Radley Italics"/>
                </a:rPr>
                <a:t>Project Progress</a:t>
              </a:r>
            </a:p>
          </p:txBody>
        </p:sp>
        <p:sp>
          <p:nvSpPr>
            <p:cNvPr id="6" name="TextBox 6"/>
            <p:cNvSpPr txBox="1"/>
            <p:nvPr/>
          </p:nvSpPr>
          <p:spPr>
            <a:xfrm>
              <a:off x="36552" y="3305425"/>
              <a:ext cx="13349248" cy="1949123"/>
            </a:xfrm>
            <a:prstGeom prst="rect">
              <a:avLst/>
            </a:prstGeom>
          </p:spPr>
          <p:txBody>
            <a:bodyPr lIns="0" tIns="0" rIns="0" bIns="0" rtlCol="0" anchor="t">
              <a:spAutoFit/>
            </a:bodyPr>
            <a:lstStyle/>
            <a:p>
              <a:pPr marL="0" lvl="0" indent="0" algn="l">
                <a:lnSpc>
                  <a:spcPts val="5831"/>
                </a:lnSpc>
                <a:spcBef>
                  <a:spcPct val="0"/>
                </a:spcBef>
              </a:pPr>
              <a:r>
                <a:rPr lang="en-US" sz="4859" u="none">
                  <a:solidFill>
                    <a:srgbClr val="F0F4F8"/>
                  </a:solidFill>
                  <a:latin typeface="Radley"/>
                  <a:ea typeface="Radley"/>
                  <a:cs typeface="Radley"/>
                  <a:sym typeface="Radley"/>
                </a:rPr>
                <a:t>Overview of Key Developments in Phase 1 Implementation</a:t>
              </a:r>
            </a:p>
          </p:txBody>
        </p:sp>
        <p:sp>
          <p:nvSpPr>
            <p:cNvPr id="7" name="AutoShape 7"/>
            <p:cNvSpPr/>
            <p:nvPr/>
          </p:nvSpPr>
          <p:spPr>
            <a:xfrm>
              <a:off x="0" y="2640206"/>
              <a:ext cx="13349248" cy="0"/>
            </a:xfrm>
            <a:prstGeom prst="line">
              <a:avLst/>
            </a:prstGeom>
            <a:ln w="35265" cap="flat">
              <a:solidFill>
                <a:srgbClr val="F0F4F8"/>
              </a:solidFill>
              <a:prstDash val="solid"/>
              <a:headEnd type="none" w="sm" len="sm"/>
              <a:tailEnd type="none" w="sm" len="sm"/>
            </a:ln>
          </p:spPr>
        </p:sp>
        <p:sp>
          <p:nvSpPr>
            <p:cNvPr id="8" name="TextBox 8"/>
            <p:cNvSpPr txBox="1"/>
            <p:nvPr/>
          </p:nvSpPr>
          <p:spPr>
            <a:xfrm>
              <a:off x="36552" y="6122407"/>
              <a:ext cx="13312697" cy="3452155"/>
            </a:xfrm>
            <a:prstGeom prst="rect">
              <a:avLst/>
            </a:prstGeom>
          </p:spPr>
          <p:txBody>
            <a:bodyPr lIns="0" tIns="0" rIns="0" bIns="0" rtlCol="0" anchor="t">
              <a:spAutoFit/>
            </a:bodyPr>
            <a:lstStyle/>
            <a:p>
              <a:pPr marL="0" lvl="0" indent="0" algn="l">
                <a:lnSpc>
                  <a:spcPts val="3332"/>
                </a:lnSpc>
              </a:pPr>
              <a:r>
                <a:rPr lang="en-US" sz="2776">
                  <a:solidFill>
                    <a:srgbClr val="F0F4F8"/>
                  </a:solidFill>
                  <a:latin typeface="Carlito"/>
                  <a:ea typeface="Carlito"/>
                  <a:cs typeface="Carlito"/>
                  <a:sym typeface="Carlito"/>
                </a:rPr>
                <a:t>In the initial phase of the Asure project, we successfully implemented multi-role authentication, ensuring secure access for various stakeholders. The integration of MongoDB has provided a robust backing for our verification data, while the frontend and backend setups have been completed using React and Express. All core verification pages are now functional and stable.</a:t>
              </a:r>
            </a:p>
          </p:txBody>
        </p:sp>
      </p:grpSp>
      <p:grpSp>
        <p:nvGrpSpPr>
          <p:cNvPr id="9" name="Group 9"/>
          <p:cNvGrpSpPr/>
          <p:nvPr/>
        </p:nvGrpSpPr>
        <p:grpSpPr>
          <a:xfrm>
            <a:off x="666750" y="9184102"/>
            <a:ext cx="2171730" cy="2205796"/>
            <a:chOff x="0" y="0"/>
            <a:chExt cx="812800" cy="825500"/>
          </a:xfrm>
        </p:grpSpPr>
        <p:sp>
          <p:nvSpPr>
            <p:cNvPr id="10" name="Freeform 10"/>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0F4F8"/>
            </a:solidFill>
          </p:spPr>
        </p:sp>
        <p:sp>
          <p:nvSpPr>
            <p:cNvPr id="11" name="TextBox 11"/>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619125" y="628650"/>
            <a:ext cx="6057900" cy="4491247"/>
            <a:chOff x="0" y="0"/>
            <a:chExt cx="8077200" cy="5988329"/>
          </a:xfrm>
        </p:grpSpPr>
        <p:sp>
          <p:nvSpPr>
            <p:cNvPr id="3" name="TextBox 3"/>
            <p:cNvSpPr txBox="1"/>
            <p:nvPr/>
          </p:nvSpPr>
          <p:spPr>
            <a:xfrm>
              <a:off x="0" y="142875"/>
              <a:ext cx="8077200" cy="3637492"/>
            </a:xfrm>
            <a:prstGeom prst="rect">
              <a:avLst/>
            </a:prstGeom>
          </p:spPr>
          <p:txBody>
            <a:bodyPr lIns="0" tIns="0" rIns="0" bIns="0" rtlCol="0" anchor="t">
              <a:spAutoFit/>
            </a:bodyPr>
            <a:lstStyle/>
            <a:p>
              <a:pPr marL="0" lvl="0" indent="0" algn="l">
                <a:lnSpc>
                  <a:spcPts val="6999"/>
                </a:lnSpc>
              </a:pPr>
              <a:r>
                <a:rPr lang="en-US" sz="6999">
                  <a:solidFill>
                    <a:srgbClr val="F0F4F8"/>
                  </a:solidFill>
                  <a:latin typeface="Radley"/>
                  <a:ea typeface="Radley"/>
                  <a:cs typeface="Radley"/>
                  <a:sym typeface="Radley"/>
                </a:rPr>
                <a:t>Gemini AI Integration Readiness</a:t>
              </a:r>
            </a:p>
          </p:txBody>
        </p:sp>
        <p:sp>
          <p:nvSpPr>
            <p:cNvPr id="4" name="AutoShape 4"/>
            <p:cNvSpPr/>
            <p:nvPr/>
          </p:nvSpPr>
          <p:spPr>
            <a:xfrm>
              <a:off x="0" y="4271339"/>
              <a:ext cx="8077200" cy="0"/>
            </a:xfrm>
            <a:prstGeom prst="line">
              <a:avLst/>
            </a:prstGeom>
            <a:ln w="25400" cap="flat">
              <a:solidFill>
                <a:srgbClr val="F0F4F8"/>
              </a:solidFill>
              <a:prstDash val="solid"/>
              <a:headEnd type="none" w="sm" len="sm"/>
              <a:tailEnd type="none" w="sm" len="sm"/>
            </a:ln>
          </p:spPr>
        </p:sp>
        <p:sp>
          <p:nvSpPr>
            <p:cNvPr id="5" name="TextBox 5"/>
            <p:cNvSpPr txBox="1"/>
            <p:nvPr/>
          </p:nvSpPr>
          <p:spPr>
            <a:xfrm>
              <a:off x="0" y="4705206"/>
              <a:ext cx="8077200" cy="1283124"/>
            </a:xfrm>
            <a:prstGeom prst="rect">
              <a:avLst/>
            </a:prstGeom>
          </p:spPr>
          <p:txBody>
            <a:bodyPr lIns="0" tIns="0" rIns="0" bIns="0" rtlCol="0" anchor="t">
              <a:spAutoFit/>
            </a:bodyPr>
            <a:lstStyle/>
            <a:p>
              <a:pPr marL="0" lvl="0" indent="0" algn="l">
                <a:lnSpc>
                  <a:spcPts val="3919"/>
                </a:lnSpc>
                <a:spcBef>
                  <a:spcPct val="0"/>
                </a:spcBef>
              </a:pPr>
              <a:r>
                <a:rPr lang="en-US" sz="2799" u="none" strike="noStrike">
                  <a:solidFill>
                    <a:srgbClr val="F0F4F8"/>
                  </a:solidFill>
                  <a:latin typeface="Radley"/>
                  <a:ea typeface="Radley"/>
                  <a:cs typeface="Radley"/>
                  <a:sym typeface="Radley"/>
                </a:rPr>
                <a:t>Overview of AI Endpoints and their capabilities</a:t>
              </a:r>
            </a:p>
          </p:txBody>
        </p:sp>
      </p:grpSp>
      <p:sp>
        <p:nvSpPr>
          <p:cNvPr id="6" name="TextBox 6"/>
          <p:cNvSpPr txBox="1"/>
          <p:nvPr/>
        </p:nvSpPr>
        <p:spPr>
          <a:xfrm>
            <a:off x="619125" y="5544945"/>
            <a:ext cx="9014418" cy="1748135"/>
          </a:xfrm>
          <a:prstGeom prst="rect">
            <a:avLst/>
          </a:prstGeom>
        </p:spPr>
        <p:txBody>
          <a:bodyPr lIns="0" tIns="0" rIns="0" bIns="0" rtlCol="0" anchor="t">
            <a:spAutoFit/>
          </a:bodyPr>
          <a:lstStyle/>
          <a:p>
            <a:pPr marL="0" lvl="0" indent="0" algn="l">
              <a:lnSpc>
                <a:spcPts val="3403"/>
              </a:lnSpc>
            </a:pPr>
            <a:r>
              <a:rPr lang="en-US" sz="2617">
                <a:solidFill>
                  <a:srgbClr val="F0F4F8"/>
                </a:solidFill>
                <a:latin typeface="Carlito"/>
                <a:ea typeface="Carlito"/>
                <a:cs typeface="Carlito"/>
                <a:sym typeface="Carlito"/>
              </a:rPr>
              <a:t>The backend is now fully prepared for </a:t>
            </a:r>
            <a:r>
              <a:rPr lang="en-US" sz="2617" b="1">
                <a:solidFill>
                  <a:srgbClr val="F0F4F8"/>
                </a:solidFill>
                <a:latin typeface="Carlito Bold"/>
                <a:ea typeface="Carlito Bold"/>
                <a:cs typeface="Carlito Bold"/>
                <a:sym typeface="Carlito Bold"/>
              </a:rPr>
              <a:t>Gemini AI deployment</a:t>
            </a:r>
            <a:r>
              <a:rPr lang="en-US" sz="2617">
                <a:solidFill>
                  <a:srgbClr val="F0F4F8"/>
                </a:solidFill>
                <a:latin typeface="Carlito"/>
                <a:ea typeface="Carlito"/>
                <a:cs typeface="Carlito"/>
                <a:sym typeface="Carlito"/>
              </a:rPr>
              <a:t>, featuring advanced endpoints for medicine AI suggestions and certificate analysis, enhancing our verification processes significantly.</a:t>
            </a:r>
          </a:p>
        </p:txBody>
      </p:sp>
      <p:grpSp>
        <p:nvGrpSpPr>
          <p:cNvPr id="7" name="Group 7"/>
          <p:cNvGrpSpPr/>
          <p:nvPr/>
        </p:nvGrpSpPr>
        <p:grpSpPr>
          <a:xfrm>
            <a:off x="9296400" y="666750"/>
            <a:ext cx="4010025" cy="8953500"/>
            <a:chOff x="0" y="0"/>
            <a:chExt cx="1479244" cy="3302824"/>
          </a:xfrm>
        </p:grpSpPr>
        <p:sp>
          <p:nvSpPr>
            <p:cNvPr id="8" name="Freeform 8"/>
            <p:cNvSpPr/>
            <p:nvPr/>
          </p:nvSpPr>
          <p:spPr>
            <a:xfrm>
              <a:off x="0" y="0"/>
              <a:ext cx="1479244" cy="3302824"/>
            </a:xfrm>
            <a:custGeom>
              <a:avLst/>
              <a:gdLst/>
              <a:ahLst/>
              <a:cxnLst/>
              <a:rect l="l" t="t" r="r" b="b"/>
              <a:pathLst>
                <a:path w="1479244" h="3302824">
                  <a:moveTo>
                    <a:pt x="0" y="0"/>
                  </a:moveTo>
                  <a:lnTo>
                    <a:pt x="1479244" y="0"/>
                  </a:lnTo>
                  <a:lnTo>
                    <a:pt x="1479244" y="3302824"/>
                  </a:lnTo>
                  <a:lnTo>
                    <a:pt x="0" y="3302824"/>
                  </a:lnTo>
                  <a:close/>
                </a:path>
              </a:pathLst>
            </a:custGeom>
            <a:blipFill>
              <a:blip r:embed="rId2"/>
              <a:stretch>
                <a:fillRect t="-322" b="-322"/>
              </a:stretch>
            </a:blipFill>
          </p:spPr>
        </p:sp>
      </p:grpSp>
      <p:grpSp>
        <p:nvGrpSpPr>
          <p:cNvPr id="9" name="Group 9"/>
          <p:cNvGrpSpPr/>
          <p:nvPr/>
        </p:nvGrpSpPr>
        <p:grpSpPr>
          <a:xfrm>
            <a:off x="13611225" y="666750"/>
            <a:ext cx="4676775" cy="8953500"/>
            <a:chOff x="0" y="0"/>
            <a:chExt cx="1725199" cy="3302824"/>
          </a:xfrm>
        </p:grpSpPr>
        <p:sp>
          <p:nvSpPr>
            <p:cNvPr id="10" name="Freeform 10"/>
            <p:cNvSpPr/>
            <p:nvPr/>
          </p:nvSpPr>
          <p:spPr>
            <a:xfrm>
              <a:off x="0" y="0"/>
              <a:ext cx="1725199" cy="3302824"/>
            </a:xfrm>
            <a:custGeom>
              <a:avLst/>
              <a:gdLst/>
              <a:ahLst/>
              <a:cxnLst/>
              <a:rect l="l" t="t" r="r" b="b"/>
              <a:pathLst>
                <a:path w="1725199" h="3302824">
                  <a:moveTo>
                    <a:pt x="0" y="0"/>
                  </a:moveTo>
                  <a:lnTo>
                    <a:pt x="1725199" y="0"/>
                  </a:lnTo>
                  <a:lnTo>
                    <a:pt x="1725199" y="3302824"/>
                  </a:lnTo>
                  <a:lnTo>
                    <a:pt x="0" y="3302824"/>
                  </a:lnTo>
                  <a:close/>
                </a:path>
              </a:pathLst>
            </a:custGeom>
            <a:blipFill>
              <a:blip r:embed="rId3"/>
              <a:stretch>
                <a:fillRect t="-225" b="-225"/>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10429875" y="0"/>
            <a:ext cx="7858125" cy="10287000"/>
            <a:chOff x="0" y="0"/>
            <a:chExt cx="1217429" cy="1593725"/>
          </a:xfrm>
        </p:grpSpPr>
        <p:sp>
          <p:nvSpPr>
            <p:cNvPr id="3" name="Freeform 3"/>
            <p:cNvSpPr/>
            <p:nvPr/>
          </p:nvSpPr>
          <p:spPr>
            <a:xfrm>
              <a:off x="0" y="0"/>
              <a:ext cx="1217429" cy="1593725"/>
            </a:xfrm>
            <a:custGeom>
              <a:avLst/>
              <a:gdLst/>
              <a:ahLst/>
              <a:cxnLst/>
              <a:rect l="l" t="t" r="r" b="b"/>
              <a:pathLst>
                <a:path w="1217429" h="1593725">
                  <a:moveTo>
                    <a:pt x="0" y="0"/>
                  </a:moveTo>
                  <a:lnTo>
                    <a:pt x="1217429" y="0"/>
                  </a:lnTo>
                  <a:lnTo>
                    <a:pt x="1217429" y="1593725"/>
                  </a:lnTo>
                  <a:lnTo>
                    <a:pt x="0" y="1593725"/>
                  </a:lnTo>
                  <a:close/>
                </a:path>
              </a:pathLst>
            </a:custGeom>
            <a:blipFill>
              <a:blip r:embed="rId2"/>
              <a:stretch>
                <a:fillRect t="-255" b="-255"/>
              </a:stretch>
            </a:blipFill>
          </p:spPr>
        </p:sp>
      </p:grpSp>
      <p:grpSp>
        <p:nvGrpSpPr>
          <p:cNvPr id="4" name="Group 4"/>
          <p:cNvGrpSpPr/>
          <p:nvPr/>
        </p:nvGrpSpPr>
        <p:grpSpPr>
          <a:xfrm>
            <a:off x="666750" y="666755"/>
            <a:ext cx="9650611" cy="8517347"/>
            <a:chOff x="0" y="0"/>
            <a:chExt cx="12867481" cy="11356463"/>
          </a:xfrm>
        </p:grpSpPr>
        <p:sp>
          <p:nvSpPr>
            <p:cNvPr id="5" name="TextBox 5"/>
            <p:cNvSpPr txBox="1"/>
            <p:nvPr/>
          </p:nvSpPr>
          <p:spPr>
            <a:xfrm>
              <a:off x="35136" y="85725"/>
              <a:ext cx="12832345" cy="3566426"/>
            </a:xfrm>
            <a:prstGeom prst="rect">
              <a:avLst/>
            </a:prstGeom>
          </p:spPr>
          <p:txBody>
            <a:bodyPr lIns="0" tIns="0" rIns="0" bIns="0" rtlCol="0" anchor="t">
              <a:spAutoFit/>
            </a:bodyPr>
            <a:lstStyle/>
            <a:p>
              <a:pPr marL="0" lvl="0" indent="0" algn="l">
                <a:lnSpc>
                  <a:spcPts val="10463"/>
                </a:lnSpc>
                <a:spcBef>
                  <a:spcPct val="0"/>
                </a:spcBef>
              </a:pPr>
              <a:r>
                <a:rPr lang="en-US" sz="9342" i="1">
                  <a:solidFill>
                    <a:srgbClr val="F0F4F8"/>
                  </a:solidFill>
                  <a:latin typeface="Radley Italics"/>
                  <a:ea typeface="Radley Italics"/>
                  <a:cs typeface="Radley Italics"/>
                  <a:sym typeface="Radley Italics"/>
                </a:rPr>
                <a:t>Summary &amp; Key Takeaways</a:t>
              </a:r>
            </a:p>
          </p:txBody>
        </p:sp>
        <p:sp>
          <p:nvSpPr>
            <p:cNvPr id="6" name="TextBox 6"/>
            <p:cNvSpPr txBox="1"/>
            <p:nvPr/>
          </p:nvSpPr>
          <p:spPr>
            <a:xfrm>
              <a:off x="35136" y="4949384"/>
              <a:ext cx="12832345" cy="2796741"/>
            </a:xfrm>
            <a:prstGeom prst="rect">
              <a:avLst/>
            </a:prstGeom>
          </p:spPr>
          <p:txBody>
            <a:bodyPr lIns="0" tIns="0" rIns="0" bIns="0" rtlCol="0" anchor="t">
              <a:spAutoFit/>
            </a:bodyPr>
            <a:lstStyle/>
            <a:p>
              <a:pPr marL="0" lvl="0" indent="0" algn="l">
                <a:lnSpc>
                  <a:spcPts val="5605"/>
                </a:lnSpc>
                <a:spcBef>
                  <a:spcPct val="0"/>
                </a:spcBef>
              </a:pPr>
              <a:r>
                <a:rPr lang="en-US" sz="4671" u="none">
                  <a:solidFill>
                    <a:srgbClr val="F0F4F8"/>
                  </a:solidFill>
                  <a:latin typeface="Radley"/>
                  <a:ea typeface="Radley"/>
                  <a:cs typeface="Radley"/>
                  <a:sym typeface="Radley"/>
                </a:rPr>
                <a:t>Asure's Unique Value Proposition in AI-Powered Learning and Verification</a:t>
              </a:r>
            </a:p>
          </p:txBody>
        </p:sp>
        <p:sp>
          <p:nvSpPr>
            <p:cNvPr id="7" name="AutoShape 7"/>
            <p:cNvSpPr/>
            <p:nvPr/>
          </p:nvSpPr>
          <p:spPr>
            <a:xfrm>
              <a:off x="0" y="4300768"/>
              <a:ext cx="12832345" cy="0"/>
            </a:xfrm>
            <a:prstGeom prst="line">
              <a:avLst/>
            </a:prstGeom>
            <a:ln w="33900" cap="flat">
              <a:solidFill>
                <a:srgbClr val="F0F4F8"/>
              </a:solidFill>
              <a:prstDash val="solid"/>
              <a:headEnd type="none" w="sm" len="sm"/>
              <a:tailEnd type="none" w="sm" len="sm"/>
            </a:ln>
          </p:spPr>
        </p:sp>
        <p:sp>
          <p:nvSpPr>
            <p:cNvPr id="8" name="TextBox 8"/>
            <p:cNvSpPr txBox="1"/>
            <p:nvPr/>
          </p:nvSpPr>
          <p:spPr>
            <a:xfrm>
              <a:off x="35136" y="8587322"/>
              <a:ext cx="12797209" cy="2769141"/>
            </a:xfrm>
            <a:prstGeom prst="rect">
              <a:avLst/>
            </a:prstGeom>
          </p:spPr>
          <p:txBody>
            <a:bodyPr lIns="0" tIns="0" rIns="0" bIns="0" rtlCol="0" anchor="t">
              <a:spAutoFit/>
            </a:bodyPr>
            <a:lstStyle/>
            <a:p>
              <a:pPr marL="0" lvl="0" indent="0" algn="l">
                <a:lnSpc>
                  <a:spcPts val="3203"/>
                </a:lnSpc>
              </a:pPr>
              <a:r>
                <a:rPr lang="en-US" sz="2669">
                  <a:solidFill>
                    <a:srgbClr val="F0F4F8"/>
                  </a:solidFill>
                  <a:latin typeface="Carlito"/>
                  <a:ea typeface="Carlito"/>
                  <a:cs typeface="Carlito"/>
                  <a:sym typeface="Carlito"/>
                </a:rPr>
                <a:t>Asure </a:t>
              </a:r>
              <a:r>
                <a:rPr lang="en-US" sz="2669" b="1">
                  <a:solidFill>
                    <a:srgbClr val="F0F4F8"/>
                  </a:solidFill>
                  <a:latin typeface="Carlito Bold"/>
                  <a:ea typeface="Carlito Bold"/>
                  <a:cs typeface="Carlito Bold"/>
                  <a:sym typeface="Carlito Bold"/>
                </a:rPr>
                <a:t>uniquely combines</a:t>
              </a:r>
              <a:r>
                <a:rPr lang="en-US" sz="2669">
                  <a:solidFill>
                    <a:srgbClr val="F0F4F8"/>
                  </a:solidFill>
                  <a:latin typeface="Carlito"/>
                  <a:ea typeface="Carlito"/>
                  <a:cs typeface="Carlito"/>
                  <a:sym typeface="Carlito"/>
                </a:rPr>
                <a:t> AI verification with high-trust personalized learning. By addressing both </a:t>
              </a:r>
              <a:r>
                <a:rPr lang="en-US" sz="2669" b="1">
                  <a:solidFill>
                    <a:srgbClr val="F0F4F8"/>
                  </a:solidFill>
                  <a:latin typeface="Carlito Bold"/>
                  <a:ea typeface="Carlito Bold"/>
                  <a:cs typeface="Carlito Bold"/>
                  <a:sym typeface="Carlito Bold"/>
                </a:rPr>
                <a:t>authenticity and skill personalization</a:t>
              </a:r>
              <a:r>
                <a:rPr lang="en-US" sz="2669">
                  <a:solidFill>
                    <a:srgbClr val="F0F4F8"/>
                  </a:solidFill>
                  <a:latin typeface="Carlito"/>
                  <a:ea typeface="Carlito"/>
                  <a:cs typeface="Carlito"/>
                  <a:sym typeface="Carlito"/>
                </a:rPr>
                <a:t>, it significantly outperforms competitors. The system stands ready for AI integration and market deployment, ensuring a more robust and reliable approach to digital credentialing and learning pathways.</a:t>
              </a:r>
            </a:p>
          </p:txBody>
        </p:sp>
      </p:grpSp>
      <p:grpSp>
        <p:nvGrpSpPr>
          <p:cNvPr id="9" name="Group 9"/>
          <p:cNvGrpSpPr/>
          <p:nvPr/>
        </p:nvGrpSpPr>
        <p:grpSpPr>
          <a:xfrm>
            <a:off x="666750" y="9184102"/>
            <a:ext cx="2171730" cy="2205796"/>
            <a:chOff x="0" y="0"/>
            <a:chExt cx="812800" cy="825500"/>
          </a:xfrm>
        </p:grpSpPr>
        <p:sp>
          <p:nvSpPr>
            <p:cNvPr id="10" name="Freeform 10"/>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0F4F8"/>
            </a:solidFill>
          </p:spPr>
        </p:sp>
        <p:sp>
          <p:nvSpPr>
            <p:cNvPr id="11" name="TextBox 11"/>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14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5091541"/>
            <a:ext cx="11367460" cy="2991850"/>
            <a:chOff x="0" y="0"/>
            <a:chExt cx="15156613" cy="3989133"/>
          </a:xfrm>
        </p:grpSpPr>
        <p:sp>
          <p:nvSpPr>
            <p:cNvPr id="3" name="TextBox 3"/>
            <p:cNvSpPr txBox="1"/>
            <p:nvPr/>
          </p:nvSpPr>
          <p:spPr>
            <a:xfrm>
              <a:off x="67061" y="2122788"/>
              <a:ext cx="15089552" cy="1866345"/>
            </a:xfrm>
            <a:prstGeom prst="rect">
              <a:avLst/>
            </a:prstGeom>
          </p:spPr>
          <p:txBody>
            <a:bodyPr lIns="0" tIns="0" rIns="0" bIns="0" rtlCol="0" anchor="t">
              <a:spAutoFit/>
            </a:bodyPr>
            <a:lstStyle/>
            <a:p>
              <a:pPr marL="0" lvl="0" indent="0" algn="l">
                <a:lnSpc>
                  <a:spcPts val="10705"/>
                </a:lnSpc>
              </a:pPr>
              <a:r>
                <a:rPr lang="en-US" sz="9558">
                  <a:solidFill>
                    <a:srgbClr val="F0F4F8"/>
                  </a:solidFill>
                  <a:latin typeface="Radley"/>
                  <a:ea typeface="Radley"/>
                  <a:cs typeface="Radley"/>
                  <a:sym typeface="Radley"/>
                </a:rPr>
                <a:t>-Asure </a:t>
              </a:r>
            </a:p>
          </p:txBody>
        </p:sp>
        <p:sp>
          <p:nvSpPr>
            <p:cNvPr id="4" name="TextBox 4"/>
            <p:cNvSpPr txBox="1"/>
            <p:nvPr/>
          </p:nvSpPr>
          <p:spPr>
            <a:xfrm>
              <a:off x="0" y="142875"/>
              <a:ext cx="14504502" cy="1290672"/>
            </a:xfrm>
            <a:prstGeom prst="rect">
              <a:avLst/>
            </a:prstGeom>
          </p:spPr>
          <p:txBody>
            <a:bodyPr lIns="0" tIns="0" rIns="0" bIns="0" rtlCol="0" anchor="t">
              <a:spAutoFit/>
            </a:bodyPr>
            <a:lstStyle/>
            <a:p>
              <a:pPr marL="0" lvl="0" indent="0" algn="l">
                <a:lnSpc>
                  <a:spcPts val="7079"/>
                </a:lnSpc>
              </a:pPr>
              <a:r>
                <a:rPr lang="en-US" sz="7079" i="1" u="none">
                  <a:solidFill>
                    <a:srgbClr val="F0F4F8"/>
                  </a:solidFill>
                  <a:latin typeface="Radley Italics"/>
                  <a:ea typeface="Radley Italics"/>
                  <a:cs typeface="Radley Italics"/>
                  <a:sym typeface="Radley Italics"/>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367</Words>
  <Application>Microsoft Office PowerPoint</Application>
  <PresentationFormat>Custom</PresentationFormat>
  <Paragraphs>30</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Carlito</vt:lpstr>
      <vt:lpstr>Carlito Bold</vt:lpstr>
      <vt:lpstr>Radley Italics</vt:lpstr>
      <vt:lpstr>Arial</vt:lpstr>
      <vt:lpstr>Radley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Asure</dc:title>
  <dc:description>Presentation - Asure</dc:description>
  <cp:lastModifiedBy>Polok</cp:lastModifiedBy>
  <cp:revision>2</cp:revision>
  <dcterms:created xsi:type="dcterms:W3CDTF">2006-08-16T00:00:00Z</dcterms:created>
  <dcterms:modified xsi:type="dcterms:W3CDTF">2025-12-08T06:34:52Z</dcterms:modified>
  <dc:identifier>DAG65cNtpbo</dc:identifier>
</cp:coreProperties>
</file>